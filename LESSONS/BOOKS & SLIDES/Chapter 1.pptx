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6"/>
  </p:notesMasterIdLst>
  <p:sldIdLst>
    <p:sldId id="256" r:id="rId2"/>
    <p:sldId id="259" r:id="rId3"/>
    <p:sldId id="265" r:id="rId4"/>
    <p:sldId id="326" r:id="rId5"/>
    <p:sldId id="327" r:id="rId6"/>
    <p:sldId id="325" r:id="rId7"/>
    <p:sldId id="297" r:id="rId8"/>
    <p:sldId id="298" r:id="rId9"/>
    <p:sldId id="299" r:id="rId10"/>
    <p:sldId id="300" r:id="rId11"/>
    <p:sldId id="301" r:id="rId12"/>
    <p:sldId id="302" r:id="rId13"/>
    <p:sldId id="303" r:id="rId14"/>
    <p:sldId id="320" r:id="rId15"/>
    <p:sldId id="321" r:id="rId16"/>
    <p:sldId id="304" r:id="rId17"/>
    <p:sldId id="305" r:id="rId18"/>
    <p:sldId id="306" r:id="rId19"/>
    <p:sldId id="322" r:id="rId20"/>
    <p:sldId id="307" r:id="rId21"/>
    <p:sldId id="308" r:id="rId22"/>
    <p:sldId id="309" r:id="rId23"/>
    <p:sldId id="310" r:id="rId24"/>
    <p:sldId id="296" r:id="rId25"/>
    <p:sldId id="312" r:id="rId26"/>
    <p:sldId id="313" r:id="rId27"/>
    <p:sldId id="314" r:id="rId28"/>
    <p:sldId id="315" r:id="rId29"/>
    <p:sldId id="317" r:id="rId30"/>
    <p:sldId id="318" r:id="rId31"/>
    <p:sldId id="319" r:id="rId32"/>
    <p:sldId id="316" r:id="rId33"/>
    <p:sldId id="328" r:id="rId34"/>
    <p:sldId id="324" r:id="rId35"/>
  </p:sldIdLst>
  <p:sldSz cx="9144000" cy="5143500" type="screen16x9"/>
  <p:notesSz cx="6858000" cy="9144000"/>
  <p:embeddedFontLst>
    <p:embeddedFont>
      <p:font typeface="Consolas" panose="020B0609020204030204" pitchFamily="49" charset="0"/>
      <p:regular r:id="rId37"/>
      <p:bold r:id="rId38"/>
      <p:italic r:id="rId39"/>
      <p:boldItalic r:id="rId40"/>
    </p:embeddedFont>
    <p:embeddedFont>
      <p:font typeface="Roboto" panose="02000000000000000000" pitchFamily="2" charset="0"/>
      <p:regular r:id="rId41"/>
      <p:bold r:id="rId42"/>
      <p:italic r:id="rId43"/>
      <p:boldItalic r:id="rId44"/>
    </p:embeddedFont>
    <p:embeddedFont>
      <p:font typeface="Verdana" panose="020B060403050404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75"/>
  </p:normalViewPr>
  <p:slideViewPr>
    <p:cSldViewPr snapToGrid="0">
      <p:cViewPr varScale="1">
        <p:scale>
          <a:sx n="140" d="100"/>
          <a:sy n="140" d="100"/>
        </p:scale>
        <p:origin x="77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6f9e47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c6f9e470d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c6f9e470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6f9e47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0365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1600"/>
              </a:spcBef>
              <a:spcAft>
                <a:spcPts val="0"/>
              </a:spcAft>
              <a:buClr>
                <a:schemeClr val="lt1"/>
              </a:buClr>
              <a:buSzPts val="1400"/>
              <a:buChar char="○"/>
              <a:defRPr>
                <a:solidFill>
                  <a:schemeClr val="lt1"/>
                </a:solidFill>
              </a:defRPr>
            </a:lvl2pPr>
            <a:lvl3pPr marL="1371600" lvl="2" indent="-317500" algn="ctr">
              <a:spcBef>
                <a:spcPts val="1600"/>
              </a:spcBef>
              <a:spcAft>
                <a:spcPts val="0"/>
              </a:spcAft>
              <a:buClr>
                <a:schemeClr val="lt1"/>
              </a:buClr>
              <a:buSzPts val="1400"/>
              <a:buChar char="■"/>
              <a:defRPr>
                <a:solidFill>
                  <a:schemeClr val="lt1"/>
                </a:solidFill>
              </a:defRPr>
            </a:lvl3pPr>
            <a:lvl4pPr marL="1828800" lvl="3" indent="-317500" algn="ctr">
              <a:spcBef>
                <a:spcPts val="1600"/>
              </a:spcBef>
              <a:spcAft>
                <a:spcPts val="0"/>
              </a:spcAft>
              <a:buClr>
                <a:schemeClr val="lt1"/>
              </a:buClr>
              <a:buSzPts val="1400"/>
              <a:buChar char="●"/>
              <a:defRPr>
                <a:solidFill>
                  <a:schemeClr val="lt1"/>
                </a:solidFill>
              </a:defRPr>
            </a:lvl4pPr>
            <a:lvl5pPr marL="2286000" lvl="4" indent="-317500" algn="ctr">
              <a:spcBef>
                <a:spcPts val="1600"/>
              </a:spcBef>
              <a:spcAft>
                <a:spcPts val="0"/>
              </a:spcAft>
              <a:buClr>
                <a:schemeClr val="lt1"/>
              </a:buClr>
              <a:buSzPts val="1400"/>
              <a:buChar char="○"/>
              <a:defRPr>
                <a:solidFill>
                  <a:schemeClr val="lt1"/>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hyperlink" Target="https://www.microverse.org/blog/how-to-work-with-json-in-javascript#toc-what-is-json-" TargetMode="External"/><Relationship Id="rId2" Type="http://schemas.openxmlformats.org/officeDocument/2006/relationships/hyperlink" Target="https://www.w3schools.com/js/" TargetMode="External"/><Relationship Id="rId1" Type="http://schemas.openxmlformats.org/officeDocument/2006/relationships/slideLayout" Target="../slideLayouts/slideLayout3.xml"/><Relationship Id="rId6" Type="http://schemas.openxmlformats.org/officeDocument/2006/relationships/hyperlink" Target="https://www.digitalocean.com/community/tutorials/understanding-arrow-functions-in-javascript" TargetMode="External"/><Relationship Id="rId5" Type="http://schemas.openxmlformats.org/officeDocument/2006/relationships/hyperlink" Target="https://www.cuelogic.com/blog/advantages-of-javascript-es6-over-es5" TargetMode="External"/><Relationship Id="rId4" Type="http://schemas.openxmlformats.org/officeDocument/2006/relationships/hyperlink" Target="https://www.geeksforgeeks.org/functions-in-javascript/?ref=lbp"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1718621" y="2361063"/>
            <a:ext cx="5706758" cy="133977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solidFill>
                  <a:schemeClr val="bg1"/>
                </a:solidFill>
              </a:rPr>
              <a:t>Web Development using </a:t>
            </a:r>
            <a:r>
              <a:rPr lang="en-US" sz="4000" b="1" dirty="0">
                <a:solidFill>
                  <a:schemeClr val="bg1"/>
                </a:solidFill>
              </a:rPr>
              <a:t>ReactJS</a:t>
            </a:r>
            <a:endParaRPr sz="4000" b="1" dirty="0">
              <a:solidFill>
                <a:schemeClr val="bg1"/>
              </a:solidFill>
            </a:endParaRPr>
          </a:p>
        </p:txBody>
      </p:sp>
      <p:sp>
        <p:nvSpPr>
          <p:cNvPr id="9" name="TextBox 8">
            <a:extLst>
              <a:ext uri="{FF2B5EF4-FFF2-40B4-BE49-F238E27FC236}">
                <a16:creationId xmlns:a16="http://schemas.microsoft.com/office/drawing/2014/main" id="{FD946B8D-3AAC-3948-865E-4C28C4E55822}"/>
              </a:ext>
            </a:extLst>
          </p:cNvPr>
          <p:cNvSpPr txBox="1"/>
          <p:nvPr/>
        </p:nvSpPr>
        <p:spPr>
          <a:xfrm>
            <a:off x="1701697" y="586213"/>
            <a:ext cx="4224039" cy="535531"/>
          </a:xfrm>
          <a:prstGeom prst="rect">
            <a:avLst/>
          </a:prstGeom>
          <a:noFill/>
        </p:spPr>
        <p:txBody>
          <a:bodyPr wrap="square">
            <a:spAutoFit/>
          </a:bodyPr>
          <a:lstStyle/>
          <a:p>
            <a:pPr algn="ctr" eaLnBrk="1" hangingPunct="1">
              <a:lnSpc>
                <a:spcPct val="80000"/>
              </a:lnSpc>
              <a:buFont typeface="Wingdings" panose="05000000000000000000" pitchFamily="2" charset="2"/>
              <a:buNone/>
            </a:pPr>
            <a:r>
              <a:rPr lang="en-US" altLang="en-US" sz="1800" dirty="0">
                <a:solidFill>
                  <a:schemeClr val="bg1"/>
                </a:solidFill>
              </a:rPr>
              <a:t> </a:t>
            </a:r>
          </a:p>
          <a:p>
            <a:pPr algn="ctr" eaLnBrk="1" hangingPunct="1">
              <a:lnSpc>
                <a:spcPct val="80000"/>
              </a:lnSpc>
              <a:buFont typeface="Wingdings" panose="05000000000000000000" pitchFamily="2" charset="2"/>
              <a:buNone/>
            </a:pPr>
            <a:r>
              <a:rPr lang="en-US" altLang="en-US" sz="1800" dirty="0">
                <a:solidFill>
                  <a:schemeClr val="bg1"/>
                </a:solidFill>
              </a:rPr>
              <a:t>Faculty of Computer &amp; IT</a:t>
            </a:r>
          </a:p>
        </p:txBody>
      </p:sp>
      <p:pic>
        <p:nvPicPr>
          <p:cNvPr id="2" name="object 6">
            <a:extLst>
              <a:ext uri="{FF2B5EF4-FFF2-40B4-BE49-F238E27FC236}">
                <a16:creationId xmlns:a16="http://schemas.microsoft.com/office/drawing/2014/main" id="{32C89898-67DD-EBB9-055C-1A3B49E3F845}"/>
              </a:ext>
            </a:extLst>
          </p:cNvPr>
          <p:cNvPicPr/>
          <p:nvPr/>
        </p:nvPicPr>
        <p:blipFill>
          <a:blip r:embed="rId3" cstate="print"/>
          <a:stretch>
            <a:fillRect/>
          </a:stretch>
        </p:blipFill>
        <p:spPr>
          <a:xfrm>
            <a:off x="7864992" y="-26407"/>
            <a:ext cx="1189798" cy="1174534"/>
          </a:xfrm>
          <a:prstGeom prst="rect">
            <a:avLst/>
          </a:prstGeom>
        </p:spPr>
      </p:pic>
      <p:sp>
        <p:nvSpPr>
          <p:cNvPr id="3" name="object 5">
            <a:extLst>
              <a:ext uri="{FF2B5EF4-FFF2-40B4-BE49-F238E27FC236}">
                <a16:creationId xmlns:a16="http://schemas.microsoft.com/office/drawing/2014/main" id="{0E6E083C-FFFD-0729-E8B0-4930B7DC4C49}"/>
              </a:ext>
            </a:extLst>
          </p:cNvPr>
          <p:cNvSpPr txBox="1"/>
          <p:nvPr/>
        </p:nvSpPr>
        <p:spPr>
          <a:xfrm>
            <a:off x="52039" y="342007"/>
            <a:ext cx="7865327" cy="382156"/>
          </a:xfrm>
          <a:prstGeom prst="rect">
            <a:avLst/>
          </a:prstGeom>
        </p:spPr>
        <p:txBody>
          <a:bodyPr vert="horz" wrap="square" lIns="0" tIns="12700" rIns="0" bIns="0" rtlCol="0">
            <a:spAutoFit/>
          </a:bodyPr>
          <a:lstStyle/>
          <a:p>
            <a:pPr marL="12700">
              <a:lnSpc>
                <a:spcPct val="100000"/>
              </a:lnSpc>
              <a:spcBef>
                <a:spcPts val="100"/>
              </a:spcBef>
            </a:pPr>
            <a:r>
              <a:rPr sz="2400" b="1" spc="-5" dirty="0">
                <a:solidFill>
                  <a:schemeClr val="bg1"/>
                </a:solidFill>
                <a:latin typeface="Arial"/>
                <a:cs typeface="Arial"/>
              </a:rPr>
              <a:t>Jamhuriya</a:t>
            </a:r>
            <a:r>
              <a:rPr sz="2400" b="1" spc="25" dirty="0">
                <a:solidFill>
                  <a:schemeClr val="bg1"/>
                </a:solidFill>
                <a:latin typeface="Arial"/>
                <a:cs typeface="Arial"/>
              </a:rPr>
              <a:t> </a:t>
            </a:r>
            <a:r>
              <a:rPr sz="2400" b="1" spc="-10" dirty="0">
                <a:solidFill>
                  <a:schemeClr val="bg1"/>
                </a:solidFill>
                <a:latin typeface="Arial"/>
                <a:cs typeface="Arial"/>
              </a:rPr>
              <a:t>University</a:t>
            </a:r>
            <a:r>
              <a:rPr sz="2400" b="1" spc="40" dirty="0">
                <a:solidFill>
                  <a:schemeClr val="bg1"/>
                </a:solidFill>
                <a:latin typeface="Arial"/>
                <a:cs typeface="Arial"/>
              </a:rPr>
              <a:t> </a:t>
            </a:r>
            <a:r>
              <a:rPr sz="2400" b="1" dirty="0">
                <a:solidFill>
                  <a:schemeClr val="bg1"/>
                </a:solidFill>
                <a:latin typeface="Arial"/>
                <a:cs typeface="Arial"/>
              </a:rPr>
              <a:t>of</a:t>
            </a:r>
            <a:r>
              <a:rPr sz="2400" b="1" spc="10" dirty="0">
                <a:solidFill>
                  <a:schemeClr val="bg1"/>
                </a:solidFill>
                <a:latin typeface="Arial"/>
                <a:cs typeface="Arial"/>
              </a:rPr>
              <a:t> </a:t>
            </a:r>
            <a:r>
              <a:rPr sz="2400" b="1" spc="-5" dirty="0">
                <a:solidFill>
                  <a:schemeClr val="bg1"/>
                </a:solidFill>
                <a:latin typeface="Arial"/>
                <a:cs typeface="Arial"/>
              </a:rPr>
              <a:t>Science</a:t>
            </a:r>
            <a:r>
              <a:rPr sz="2400" b="1" dirty="0">
                <a:solidFill>
                  <a:schemeClr val="bg1"/>
                </a:solidFill>
                <a:latin typeface="Arial"/>
                <a:cs typeface="Arial"/>
              </a:rPr>
              <a:t> </a:t>
            </a:r>
            <a:r>
              <a:rPr sz="2400" b="1" spc="-5" dirty="0">
                <a:solidFill>
                  <a:schemeClr val="bg1"/>
                </a:solidFill>
                <a:latin typeface="Arial"/>
                <a:cs typeface="Arial"/>
              </a:rPr>
              <a:t>&amp;</a:t>
            </a:r>
            <a:r>
              <a:rPr sz="2400" b="1" spc="5" dirty="0">
                <a:solidFill>
                  <a:schemeClr val="bg1"/>
                </a:solidFill>
                <a:latin typeface="Arial"/>
                <a:cs typeface="Arial"/>
              </a:rPr>
              <a:t> </a:t>
            </a:r>
            <a:r>
              <a:rPr sz="2400" b="1" spc="-15" dirty="0">
                <a:solidFill>
                  <a:schemeClr val="bg1"/>
                </a:solidFill>
                <a:latin typeface="Arial"/>
                <a:cs typeface="Arial"/>
              </a:rPr>
              <a:t>Technology </a:t>
            </a:r>
            <a:r>
              <a:rPr sz="2400" b="1" spc="-5" dirty="0">
                <a:solidFill>
                  <a:schemeClr val="bg1"/>
                </a:solidFill>
                <a:latin typeface="Arial"/>
                <a:cs typeface="Arial"/>
              </a:rPr>
              <a:t>(JUST)</a:t>
            </a:r>
            <a:endParaRPr sz="2400" dirty="0">
              <a:solidFill>
                <a:schemeClr val="bg1"/>
              </a:solidFill>
              <a:latin typeface="Arial"/>
              <a:cs typeface="Arial"/>
            </a:endParaRPr>
          </a:p>
        </p:txBody>
      </p:sp>
      <p:sp>
        <p:nvSpPr>
          <p:cNvPr id="5" name="Google Shape;86;p13">
            <a:extLst>
              <a:ext uri="{FF2B5EF4-FFF2-40B4-BE49-F238E27FC236}">
                <a16:creationId xmlns:a16="http://schemas.microsoft.com/office/drawing/2014/main" id="{7677DB2E-45C1-6B62-5261-A755336E6EFC}"/>
              </a:ext>
            </a:extLst>
          </p:cNvPr>
          <p:cNvSpPr txBox="1">
            <a:spLocks noGrp="1"/>
          </p:cNvSpPr>
          <p:nvPr/>
        </p:nvSpPr>
        <p:spPr>
          <a:xfrm>
            <a:off x="1335736" y="3948144"/>
            <a:ext cx="6472528" cy="432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1pPr>
            <a:lvl2pPr marL="914400" marR="0" lvl="1" indent="-3175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2pPr>
            <a:lvl3pPr marL="1371600" marR="0" lvl="2" indent="-3175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3pPr>
            <a:lvl4pPr marL="1828800" marR="0" lvl="3" indent="-3175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4pPr>
            <a:lvl5pPr marL="2286000" marR="0" lvl="4" indent="-3175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5pPr>
            <a:lvl6pPr marL="2743200" marR="0" lvl="5" indent="-3175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6pPr>
            <a:lvl7pPr marL="3200400" marR="0" lvl="6" indent="-3175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7pPr>
            <a:lvl8pPr marL="3657600" marR="0" lvl="7" indent="-3175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8pPr>
            <a:lvl9pPr marL="4114800" marR="0" lvl="8" indent="-317500" algn="l" rtl="0">
              <a:lnSpc>
                <a:spcPct val="100000"/>
              </a:lnSpc>
              <a:spcBef>
                <a:spcPts val="0"/>
              </a:spcBef>
              <a:spcAft>
                <a:spcPts val="0"/>
              </a:spcAft>
              <a:buClr>
                <a:schemeClr val="lt1"/>
              </a:buClr>
              <a:buSzPts val="2100"/>
              <a:buFont typeface="Roboto"/>
              <a:buNone/>
              <a:defRPr sz="2100" b="0" i="0" u="none" strike="noStrike" cap="none">
                <a:solidFill>
                  <a:schemeClr val="lt1"/>
                </a:solidFill>
                <a:latin typeface="Roboto"/>
                <a:ea typeface="Roboto"/>
                <a:cs typeface="Roboto"/>
                <a:sym typeface="Roboto"/>
              </a:defRPr>
            </a:lvl9pPr>
          </a:lstStyle>
          <a:p>
            <a:pPr marL="0" indent="0"/>
            <a:r>
              <a:rPr lang="en-US" altLang="en-US" b="1" dirty="0"/>
              <a:t>Lecturer: P.Eng. Abdirahman A. Mohamed - Baabale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6"/>
          <p:cNvSpPr txBox="1">
            <a:spLocks noGrp="1"/>
          </p:cNvSpPr>
          <p:nvPr>
            <p:ph type="title"/>
          </p:nvPr>
        </p:nvSpPr>
        <p:spPr>
          <a:prstGeom prst="rect">
            <a:avLst/>
          </a:prstGeom>
        </p:spPr>
        <p:txBody>
          <a:bodyPr spcFirstLastPara="1" wrap="square" lIns="91425" tIns="91425" rIns="91425" bIns="91425" anchor="b" anchorCtr="0">
            <a:noAutofit/>
          </a:bodyPr>
          <a:lstStyle/>
          <a:p>
            <a:r>
              <a:rPr lang="en-US" dirty="0"/>
              <a:t>Advanced</a:t>
            </a:r>
            <a:endParaRPr dirty="0"/>
          </a:p>
        </p:txBody>
      </p:sp>
      <p:sp>
        <p:nvSpPr>
          <p:cNvPr id="126" name="Google Shape;126;p16"/>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tx1"/>
                </a:solidFill>
              </a:rPr>
              <a:t>JavaScript Techniques</a:t>
            </a:r>
            <a:endParaRPr dirty="0">
              <a:solidFill>
                <a:schemeClr val="tx1"/>
              </a:solidFill>
            </a:endParaRPr>
          </a:p>
        </p:txBody>
      </p:sp>
      <p:sp>
        <p:nvSpPr>
          <p:cNvPr id="127" name="Google Shape;127;p16"/>
          <p:cNvSpPr txBox="1">
            <a:spLocks noGrp="1"/>
          </p:cNvSpPr>
          <p:nvPr>
            <p:ph type="body" idx="2"/>
          </p:nvPr>
        </p:nvSpPr>
        <p:spPr>
          <a:xfrm>
            <a:off x="4720605" y="343201"/>
            <a:ext cx="3837000" cy="3695100"/>
          </a:xfrm>
          <a:prstGeom prst="rect">
            <a:avLst/>
          </a:prstGeom>
        </p:spPr>
        <p:txBody>
          <a:bodyPr spcFirstLastPara="1" wrap="square" lIns="91425" tIns="91425" rIns="91425" bIns="91425" anchor="ctr" anchorCtr="0">
            <a:noAutofit/>
          </a:bodyPr>
          <a:lstStyle/>
          <a:p>
            <a:pPr marL="342900">
              <a:buFont typeface="Wingdings" panose="05000000000000000000" pitchFamily="2" charset="2"/>
              <a:buChar char="§"/>
            </a:pPr>
            <a:r>
              <a:rPr lang="en-US" b="1" dirty="0">
                <a:solidFill>
                  <a:schemeClr val="bg1"/>
                </a:solidFill>
                <a:latin typeface="+mj-lt"/>
              </a:rPr>
              <a:t>Introduction to ES6</a:t>
            </a:r>
          </a:p>
          <a:p>
            <a:pPr marL="342900">
              <a:buFont typeface="Wingdings" panose="05000000000000000000" pitchFamily="2" charset="2"/>
              <a:buChar char="§"/>
            </a:pPr>
            <a:r>
              <a:rPr lang="en-US" b="1" dirty="0">
                <a:solidFill>
                  <a:schemeClr val="bg1"/>
                </a:solidFill>
                <a:latin typeface="+mj-lt"/>
              </a:rPr>
              <a:t>Regular Functions</a:t>
            </a:r>
          </a:p>
          <a:p>
            <a:pPr marL="342900">
              <a:buFont typeface="Wingdings" panose="05000000000000000000" pitchFamily="2" charset="2"/>
              <a:buChar char="§"/>
            </a:pPr>
            <a:r>
              <a:rPr lang="en-US" sz="1800" b="1" dirty="0">
                <a:solidFill>
                  <a:schemeClr val="bg1"/>
                </a:solidFill>
                <a:effectLst/>
                <a:latin typeface="+mj-lt"/>
              </a:rPr>
              <a:t>Arrow Function</a:t>
            </a:r>
          </a:p>
          <a:p>
            <a:pPr marL="342900">
              <a:buFont typeface="Wingdings" panose="05000000000000000000" pitchFamily="2" charset="2"/>
              <a:buChar char="§"/>
            </a:pPr>
            <a:r>
              <a:rPr lang="en-US" b="1" i="0" dirty="0">
                <a:solidFill>
                  <a:schemeClr val="bg1"/>
                </a:solidFill>
                <a:effectLst/>
                <a:latin typeface="+mj-lt"/>
                <a:ea typeface="pingfang SC" panose="020B0400000000000000" pitchFamily="34" charset="-122"/>
              </a:rPr>
              <a:t>Callback function</a:t>
            </a:r>
            <a:endParaRPr lang="en-US" sz="1800" b="1" dirty="0">
              <a:solidFill>
                <a:schemeClr val="bg1"/>
              </a:solidFill>
              <a:effectLst/>
              <a:latin typeface="+mj-lt"/>
            </a:endParaRPr>
          </a:p>
          <a:p>
            <a:pPr marL="342900" indent="-342900">
              <a:buFont typeface="Wingdings" panose="05000000000000000000" pitchFamily="2" charset="2"/>
              <a:buChar char="§"/>
            </a:pPr>
            <a:r>
              <a:rPr lang="en-US" sz="1800" b="1" i="0" dirty="0">
                <a:solidFill>
                  <a:schemeClr val="bg1"/>
                </a:solidFill>
                <a:effectLst/>
                <a:latin typeface="+mj-lt"/>
              </a:rPr>
              <a:t>Default Parameter Values</a:t>
            </a:r>
          </a:p>
          <a:p>
            <a:pPr marL="342900">
              <a:buFont typeface="Wingdings" panose="05000000000000000000" pitchFamily="2" charset="2"/>
              <a:buChar char="§"/>
            </a:pPr>
            <a:r>
              <a:rPr lang="en-US" b="1" dirty="0">
                <a:solidFill>
                  <a:schemeClr val="bg1"/>
                </a:solidFill>
                <a:latin typeface="+mj-lt"/>
              </a:rPr>
              <a:t>Function Rest Parameter</a:t>
            </a:r>
          </a:p>
          <a:p>
            <a:pPr marL="342900">
              <a:buFont typeface="Wingdings" panose="05000000000000000000" pitchFamily="2" charset="2"/>
              <a:buChar char="§"/>
            </a:pPr>
            <a:r>
              <a:rPr lang="en-US" b="1" dirty="0">
                <a:solidFill>
                  <a:schemeClr val="bg1"/>
                </a:solidFill>
                <a:latin typeface="+mj-lt"/>
              </a:rPr>
              <a:t>Classes</a:t>
            </a:r>
          </a:p>
          <a:p>
            <a:pPr marL="342900">
              <a:buFont typeface="Wingdings" panose="05000000000000000000" pitchFamily="2" charset="2"/>
              <a:buChar char="§"/>
            </a:pPr>
            <a:r>
              <a:rPr lang="en-US" b="1" dirty="0">
                <a:solidFill>
                  <a:schemeClr val="bg1"/>
                </a:solidFill>
                <a:latin typeface="+mj-lt"/>
              </a:rPr>
              <a:t>Object</a:t>
            </a:r>
          </a:p>
          <a:p>
            <a:pPr marL="342900">
              <a:buFont typeface="Wingdings" panose="05000000000000000000" pitchFamily="2" charset="2"/>
              <a:buChar char="§"/>
            </a:pPr>
            <a:r>
              <a:rPr lang="en-US" b="1" i="0" dirty="0" err="1">
                <a:solidFill>
                  <a:schemeClr val="bg1"/>
                </a:solidFill>
                <a:effectLst/>
                <a:latin typeface="+mj-lt"/>
              </a:rPr>
              <a:t>Destructuring</a:t>
            </a:r>
            <a:r>
              <a:rPr lang="en-US" b="1" i="0" dirty="0">
                <a:solidFill>
                  <a:schemeClr val="bg1"/>
                </a:solidFill>
                <a:effectLst/>
                <a:latin typeface="+mj-lt"/>
              </a:rPr>
              <a:t> assignment</a:t>
            </a:r>
            <a:endParaRPr lang="en-US" b="1" dirty="0">
              <a:solidFill>
                <a:schemeClr val="bg1"/>
              </a:solidFill>
              <a:latin typeface="+mj-lt"/>
            </a:endParaRPr>
          </a:p>
          <a:p>
            <a:pPr marL="342900">
              <a:buFont typeface="Wingdings" panose="05000000000000000000" pitchFamily="2" charset="2"/>
              <a:buChar char="§"/>
            </a:pPr>
            <a:r>
              <a:rPr lang="en-US" b="1" i="0" dirty="0">
                <a:solidFill>
                  <a:schemeClr val="bg1"/>
                </a:solidFill>
                <a:effectLst/>
                <a:latin typeface="+mj-lt"/>
              </a:rPr>
              <a:t>Template Literals</a:t>
            </a:r>
          </a:p>
          <a:p>
            <a:pPr marL="342900" indent="-342900">
              <a:buFont typeface="Wingdings" panose="05000000000000000000" pitchFamily="2" charset="2"/>
              <a:buChar char="§"/>
            </a:pPr>
            <a:r>
              <a:rPr lang="en-US" b="1" dirty="0">
                <a:latin typeface="+mj-lt"/>
              </a:rPr>
              <a:t>JSON</a:t>
            </a:r>
            <a:endParaRPr dirty="0">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16171" y="40751"/>
            <a:ext cx="8520600" cy="607800"/>
          </a:xfrm>
        </p:spPr>
        <p:txBody>
          <a:bodyPr/>
          <a:lstStyle/>
          <a:p>
            <a:r>
              <a:rPr lang="en-US" altLang="en-US" sz="3600" dirty="0">
                <a:latin typeface="+mj-lt"/>
                <a:ea typeface="+mj-ea"/>
                <a:cs typeface="Arial"/>
              </a:rPr>
              <a:t>ES6</a:t>
            </a:r>
            <a:endParaRPr lang="en-SO" dirty="0">
              <a:solidFill>
                <a:schemeClr val="tx1"/>
              </a:solidFill>
              <a:latin typeface="+mj-lt"/>
            </a:endParaRPr>
          </a:p>
        </p:txBody>
      </p:sp>
      <p:sp>
        <p:nvSpPr>
          <p:cNvPr id="5" name="TextBox 4">
            <a:extLst>
              <a:ext uri="{FF2B5EF4-FFF2-40B4-BE49-F238E27FC236}">
                <a16:creationId xmlns:a16="http://schemas.microsoft.com/office/drawing/2014/main" id="{8908FC72-AC8D-2467-98F5-BB6528C09B66}"/>
              </a:ext>
            </a:extLst>
          </p:cNvPr>
          <p:cNvSpPr txBox="1"/>
          <p:nvPr/>
        </p:nvSpPr>
        <p:spPr>
          <a:xfrm>
            <a:off x="174170" y="742295"/>
            <a:ext cx="8597297" cy="2669642"/>
          </a:xfrm>
          <a:prstGeom prst="rect">
            <a:avLst/>
          </a:prstGeom>
          <a:noFill/>
        </p:spPr>
        <p:txBody>
          <a:bodyPr wrap="square">
            <a:spAutoFit/>
          </a:bodyPr>
          <a:lstStyle/>
          <a:p>
            <a:pPr algn="just">
              <a:lnSpc>
                <a:spcPct val="150000"/>
              </a:lnSpc>
            </a:pPr>
            <a:r>
              <a:rPr lang="en-US" sz="1900" dirty="0">
                <a:solidFill>
                  <a:srgbClr val="FF0000"/>
                </a:solidFill>
                <a:latin typeface="Arial (Body)"/>
              </a:rPr>
              <a:t>ES6</a:t>
            </a:r>
            <a:r>
              <a:rPr lang="en-US" sz="1900" dirty="0">
                <a:latin typeface="Arial (Body)"/>
              </a:rPr>
              <a:t> or ECMAScript 2015 is the 6th version of the ECMAScript programming language. ECMAScript is the standardization of JavaScript which was released in 2015 and subsequently renamed ECMAScript 2015.</a:t>
            </a:r>
          </a:p>
          <a:p>
            <a:pPr algn="just">
              <a:lnSpc>
                <a:spcPct val="150000"/>
              </a:lnSpc>
            </a:pPr>
            <a:r>
              <a:rPr lang="en-US" sz="1900" dirty="0">
                <a:latin typeface="Arial (Body)"/>
              </a:rPr>
              <a:t>ECMAScript and JavaScript are both different in nature.</a:t>
            </a:r>
          </a:p>
          <a:p>
            <a:pPr algn="just">
              <a:lnSpc>
                <a:spcPct val="150000"/>
              </a:lnSpc>
            </a:pPr>
            <a:r>
              <a:rPr lang="en-US" sz="1900" dirty="0">
                <a:latin typeface="Arial (Body)"/>
              </a:rPr>
              <a:t>it allows us to write code in a clever way which basically makes the code more modern and more readable. </a:t>
            </a:r>
          </a:p>
        </p:txBody>
      </p:sp>
      <p:pic>
        <p:nvPicPr>
          <p:cNvPr id="4" name="Picture 3">
            <a:extLst>
              <a:ext uri="{FF2B5EF4-FFF2-40B4-BE49-F238E27FC236}">
                <a16:creationId xmlns:a16="http://schemas.microsoft.com/office/drawing/2014/main" id="{100CD95D-D7BD-9027-8932-399F16DD85CF}"/>
              </a:ext>
            </a:extLst>
          </p:cNvPr>
          <p:cNvPicPr>
            <a:picLocks noChangeAspect="1"/>
          </p:cNvPicPr>
          <p:nvPr/>
        </p:nvPicPr>
        <p:blipFill>
          <a:blip r:embed="rId2"/>
          <a:stretch>
            <a:fillRect/>
          </a:stretch>
        </p:blipFill>
        <p:spPr>
          <a:xfrm>
            <a:off x="323153" y="3546432"/>
            <a:ext cx="2153423" cy="1357039"/>
          </a:xfrm>
          <a:prstGeom prst="rect">
            <a:avLst/>
          </a:prstGeom>
        </p:spPr>
      </p:pic>
      <p:sp>
        <p:nvSpPr>
          <p:cNvPr id="7" name="TextBox 6">
            <a:extLst>
              <a:ext uri="{FF2B5EF4-FFF2-40B4-BE49-F238E27FC236}">
                <a16:creationId xmlns:a16="http://schemas.microsoft.com/office/drawing/2014/main" id="{470A6A47-05A3-C472-48D0-D14293A8FDCA}"/>
              </a:ext>
            </a:extLst>
          </p:cNvPr>
          <p:cNvSpPr txBox="1"/>
          <p:nvPr/>
        </p:nvSpPr>
        <p:spPr>
          <a:xfrm>
            <a:off x="2476576" y="3733920"/>
            <a:ext cx="5961180" cy="738664"/>
          </a:xfrm>
          <a:prstGeom prst="rect">
            <a:avLst/>
          </a:prstGeom>
          <a:noFill/>
        </p:spPr>
        <p:txBody>
          <a:bodyPr wrap="square">
            <a:spAutoFit/>
          </a:bodyPr>
          <a:lstStyle/>
          <a:p>
            <a:pPr marL="285750" indent="-285750">
              <a:buFont typeface="Arial" panose="020B0604020202020204" pitchFamily="34" charset="0"/>
              <a:buChar char="•"/>
            </a:pPr>
            <a:r>
              <a:rPr lang="en-US" dirty="0"/>
              <a:t>ECMAScript 2015 was the second major revision to JavaScript.</a:t>
            </a:r>
          </a:p>
          <a:p>
            <a:endParaRPr lang="en-US" dirty="0"/>
          </a:p>
          <a:p>
            <a:pPr marL="285750" indent="-285750">
              <a:buFont typeface="Arial" panose="020B0604020202020204" pitchFamily="34" charset="0"/>
              <a:buChar char="•"/>
            </a:pPr>
            <a:r>
              <a:rPr lang="en-US" dirty="0"/>
              <a:t>ECMAScript 2015 is also known as ES6 and ECMAScript 6.</a:t>
            </a:r>
          </a:p>
        </p:txBody>
      </p:sp>
    </p:spTree>
    <p:extLst>
      <p:ext uri="{BB962C8B-B14F-4D97-AF65-F5344CB8AC3E}">
        <p14:creationId xmlns:p14="http://schemas.microsoft.com/office/powerpoint/2010/main" val="1564421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87143" y="62895"/>
            <a:ext cx="8520600" cy="607800"/>
          </a:xfrm>
        </p:spPr>
        <p:txBody>
          <a:bodyPr/>
          <a:lstStyle/>
          <a:p>
            <a:r>
              <a:rPr lang="en-US" altLang="en-US" sz="3600" dirty="0">
                <a:latin typeface="+mj-lt"/>
                <a:ea typeface="+mj-ea"/>
                <a:cs typeface="Arial"/>
              </a:rPr>
              <a:t>Cont.…</a:t>
            </a:r>
            <a:endParaRPr lang="en-SO" dirty="0">
              <a:solidFill>
                <a:schemeClr val="tx1"/>
              </a:solidFill>
              <a:latin typeface="+mj-lt"/>
            </a:endParaRPr>
          </a:p>
        </p:txBody>
      </p:sp>
      <p:sp>
        <p:nvSpPr>
          <p:cNvPr id="5" name="TextBox 4">
            <a:extLst>
              <a:ext uri="{FF2B5EF4-FFF2-40B4-BE49-F238E27FC236}">
                <a16:creationId xmlns:a16="http://schemas.microsoft.com/office/drawing/2014/main" id="{8908FC72-AC8D-2467-98F5-BB6528C09B66}"/>
              </a:ext>
            </a:extLst>
          </p:cNvPr>
          <p:cNvSpPr txBox="1"/>
          <p:nvPr/>
        </p:nvSpPr>
        <p:spPr>
          <a:xfrm>
            <a:off x="158942" y="742295"/>
            <a:ext cx="8520601" cy="3546805"/>
          </a:xfrm>
          <a:prstGeom prst="rect">
            <a:avLst/>
          </a:prstGeom>
          <a:noFill/>
        </p:spPr>
        <p:txBody>
          <a:bodyPr wrap="square">
            <a:spAutoFit/>
          </a:bodyPr>
          <a:lstStyle/>
          <a:p>
            <a:pPr algn="just">
              <a:lnSpc>
                <a:spcPct val="150000"/>
              </a:lnSpc>
            </a:pPr>
            <a:r>
              <a:rPr lang="en-US" sz="1900" dirty="0">
                <a:solidFill>
                  <a:srgbClr val="FF0000"/>
                </a:solidFill>
                <a:latin typeface="Arial (Body)"/>
              </a:rPr>
              <a:t>ES6</a:t>
            </a:r>
            <a:r>
              <a:rPr lang="en-US" sz="1900" dirty="0">
                <a:latin typeface="Arial (Body)"/>
              </a:rPr>
              <a:t> introduced several key features like const, let arrow functions, template literals, default parameters, and a lot more.</a:t>
            </a:r>
          </a:p>
          <a:p>
            <a:pPr algn="just">
              <a:lnSpc>
                <a:spcPct val="150000"/>
              </a:lnSpc>
            </a:pPr>
            <a:r>
              <a:rPr lang="en-US" sz="1900" dirty="0">
                <a:latin typeface="Arial (Body)"/>
              </a:rPr>
              <a:t>“</a:t>
            </a:r>
            <a:r>
              <a:rPr lang="en-US" sz="1900" dirty="0">
                <a:solidFill>
                  <a:srgbClr val="FF0000"/>
                </a:solidFill>
                <a:latin typeface="Arial (Body)"/>
              </a:rPr>
              <a:t>const</a:t>
            </a:r>
            <a:r>
              <a:rPr lang="en-US" sz="1900" dirty="0">
                <a:latin typeface="Arial (Body)"/>
              </a:rPr>
              <a:t>” and “</a:t>
            </a:r>
            <a:r>
              <a:rPr lang="en-US" sz="1900" dirty="0">
                <a:solidFill>
                  <a:srgbClr val="FF0000"/>
                </a:solidFill>
                <a:latin typeface="Arial (Body)"/>
              </a:rPr>
              <a:t>let</a:t>
            </a:r>
            <a:r>
              <a:rPr lang="en-US" sz="1900" dirty="0">
                <a:latin typeface="Arial (Body)"/>
              </a:rPr>
              <a:t>” </a:t>
            </a:r>
          </a:p>
          <a:p>
            <a:pPr algn="just">
              <a:lnSpc>
                <a:spcPct val="150000"/>
              </a:lnSpc>
            </a:pPr>
            <a:r>
              <a:rPr lang="en-US" sz="1900" dirty="0">
                <a:latin typeface="Arial (Body)"/>
              </a:rPr>
              <a:t>Before ES6 we mainly made use of the </a:t>
            </a:r>
            <a:r>
              <a:rPr lang="en-US" sz="1900" dirty="0">
                <a:solidFill>
                  <a:srgbClr val="FF0000"/>
                </a:solidFill>
                <a:latin typeface="Arial (Body)"/>
              </a:rPr>
              <a:t>var</a:t>
            </a:r>
            <a:r>
              <a:rPr lang="en-US" sz="1900" dirty="0">
                <a:latin typeface="Arial (Body)"/>
              </a:rPr>
              <a:t> keyword whenever we wanted to declare a variable. But it had some serious issues, also it was not the developers’ favorite so in the ES6 version, we were introduced to const and let keywords which allow us to store variables. They both have their own way of storing variables.</a:t>
            </a:r>
          </a:p>
        </p:txBody>
      </p:sp>
    </p:spTree>
    <p:extLst>
      <p:ext uri="{BB962C8B-B14F-4D97-AF65-F5344CB8AC3E}">
        <p14:creationId xmlns:p14="http://schemas.microsoft.com/office/powerpoint/2010/main" val="3681118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266152" y="0"/>
            <a:ext cx="8520600" cy="607800"/>
          </a:xfrm>
        </p:spPr>
        <p:txBody>
          <a:bodyPr/>
          <a:lstStyle/>
          <a:p>
            <a:r>
              <a:rPr lang="en-US" altLang="en-US" sz="3600" dirty="0">
                <a:latin typeface="+mj-lt"/>
                <a:ea typeface="+mj-ea"/>
                <a:cs typeface="Arial"/>
              </a:rPr>
              <a:t>Cont.…</a:t>
            </a:r>
            <a:endParaRPr lang="en-SO" dirty="0">
              <a:solidFill>
                <a:schemeClr val="tx1"/>
              </a:solidFill>
              <a:latin typeface="+mj-lt"/>
            </a:endParaRPr>
          </a:p>
        </p:txBody>
      </p:sp>
      <p:pic>
        <p:nvPicPr>
          <p:cNvPr id="4" name="Picture 3">
            <a:extLst>
              <a:ext uri="{FF2B5EF4-FFF2-40B4-BE49-F238E27FC236}">
                <a16:creationId xmlns:a16="http://schemas.microsoft.com/office/drawing/2014/main" id="{82866035-E74D-9FCB-BA8D-5B5701853B67}"/>
              </a:ext>
            </a:extLst>
          </p:cNvPr>
          <p:cNvPicPr>
            <a:picLocks noChangeAspect="1"/>
          </p:cNvPicPr>
          <p:nvPr/>
        </p:nvPicPr>
        <p:blipFill>
          <a:blip r:embed="rId2"/>
          <a:stretch>
            <a:fillRect/>
          </a:stretch>
        </p:blipFill>
        <p:spPr>
          <a:xfrm>
            <a:off x="332173" y="674707"/>
            <a:ext cx="5830672" cy="4216961"/>
          </a:xfrm>
          <a:prstGeom prst="rect">
            <a:avLst/>
          </a:prstGeom>
        </p:spPr>
      </p:pic>
      <p:sp>
        <p:nvSpPr>
          <p:cNvPr id="7" name="TextBox 6">
            <a:extLst>
              <a:ext uri="{FF2B5EF4-FFF2-40B4-BE49-F238E27FC236}">
                <a16:creationId xmlns:a16="http://schemas.microsoft.com/office/drawing/2014/main" id="{F74BCFC0-FDDA-4D42-5E48-0170381889A4}"/>
              </a:ext>
            </a:extLst>
          </p:cNvPr>
          <p:cNvSpPr txBox="1"/>
          <p:nvPr/>
        </p:nvSpPr>
        <p:spPr>
          <a:xfrm>
            <a:off x="6162845" y="1946515"/>
            <a:ext cx="2929116" cy="1673343"/>
          </a:xfrm>
          <a:prstGeom prst="rect">
            <a:avLst/>
          </a:prstGeom>
          <a:noFill/>
        </p:spPr>
        <p:txBody>
          <a:bodyPr wrap="square">
            <a:spAutoFit/>
          </a:bodyPr>
          <a:lstStyle/>
          <a:p>
            <a:pPr algn="just">
              <a:lnSpc>
                <a:spcPct val="150000"/>
              </a:lnSpc>
            </a:pPr>
            <a:r>
              <a:rPr lang="en-US" b="0" i="0" dirty="0">
                <a:solidFill>
                  <a:srgbClr val="FF0000"/>
                </a:solidFill>
                <a:effectLst/>
                <a:latin typeface="proxima-nova"/>
              </a:rPr>
              <a:t>Need of ES6 was transformation/ extension in </a:t>
            </a:r>
            <a:r>
              <a:rPr lang="en-US" b="0" i="0" dirty="0" err="1">
                <a:solidFill>
                  <a:srgbClr val="FF0000"/>
                </a:solidFill>
                <a:effectLst/>
                <a:latin typeface="proxima-nova"/>
              </a:rPr>
              <a:t>Javascript</a:t>
            </a:r>
            <a:r>
              <a:rPr lang="en-US" b="0" i="0" dirty="0">
                <a:solidFill>
                  <a:srgbClr val="FF0000"/>
                </a:solidFill>
                <a:effectLst/>
                <a:latin typeface="proxima-nova"/>
              </a:rPr>
              <a:t>. This would definitely help to meet the demands of complex applications written in </a:t>
            </a:r>
            <a:r>
              <a:rPr lang="en-US" b="0" i="0" dirty="0" err="1">
                <a:solidFill>
                  <a:srgbClr val="FF0000"/>
                </a:solidFill>
                <a:effectLst/>
                <a:latin typeface="proxima-nova"/>
              </a:rPr>
              <a:t>Javascript</a:t>
            </a:r>
            <a:r>
              <a:rPr lang="en-US" b="0" i="0" dirty="0">
                <a:solidFill>
                  <a:srgbClr val="FF0000"/>
                </a:solidFill>
                <a:effectLst/>
                <a:latin typeface="proxima-nova"/>
              </a:rPr>
              <a:t>.</a:t>
            </a:r>
            <a:endParaRPr lang="en-US" dirty="0">
              <a:solidFill>
                <a:srgbClr val="FF0000"/>
              </a:solidFill>
            </a:endParaRPr>
          </a:p>
        </p:txBody>
      </p:sp>
    </p:spTree>
    <p:extLst>
      <p:ext uri="{BB962C8B-B14F-4D97-AF65-F5344CB8AC3E}">
        <p14:creationId xmlns:p14="http://schemas.microsoft.com/office/powerpoint/2010/main" val="3852251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50037" y="0"/>
            <a:ext cx="8520600" cy="607800"/>
          </a:xfrm>
        </p:spPr>
        <p:txBody>
          <a:bodyPr/>
          <a:lstStyle/>
          <a:p>
            <a:r>
              <a:rPr lang="en-US" altLang="en-US" sz="3600" dirty="0">
                <a:latin typeface="+mj-lt"/>
                <a:ea typeface="+mj-ea"/>
                <a:cs typeface="Arial"/>
              </a:rPr>
              <a:t>Regular Functions</a:t>
            </a:r>
            <a:endParaRPr lang="en-SO" dirty="0">
              <a:solidFill>
                <a:schemeClr val="tx1"/>
              </a:solidFill>
              <a:latin typeface="+mj-lt"/>
            </a:endParaRPr>
          </a:p>
        </p:txBody>
      </p:sp>
      <p:sp>
        <p:nvSpPr>
          <p:cNvPr id="5" name="TextBox 4">
            <a:extLst>
              <a:ext uri="{FF2B5EF4-FFF2-40B4-BE49-F238E27FC236}">
                <a16:creationId xmlns:a16="http://schemas.microsoft.com/office/drawing/2014/main" id="{8908FC72-AC8D-2467-98F5-BB6528C09B66}"/>
              </a:ext>
            </a:extLst>
          </p:cNvPr>
          <p:cNvSpPr txBox="1"/>
          <p:nvPr/>
        </p:nvSpPr>
        <p:spPr>
          <a:xfrm>
            <a:off x="98651" y="794541"/>
            <a:ext cx="8730874" cy="3016210"/>
          </a:xfrm>
          <a:prstGeom prst="rect">
            <a:avLst/>
          </a:prstGeom>
          <a:noFill/>
        </p:spPr>
        <p:txBody>
          <a:bodyPr wrap="square">
            <a:spAutoFit/>
          </a:bodyPr>
          <a:lstStyle/>
          <a:p>
            <a:pPr algn="just"/>
            <a:r>
              <a:rPr lang="en-US" sz="1900" dirty="0">
                <a:latin typeface="Arial (Body)"/>
              </a:rPr>
              <a:t>A JavaScript function is a block of code designed to perform a particular task.</a:t>
            </a:r>
          </a:p>
          <a:p>
            <a:pPr algn="just"/>
            <a:r>
              <a:rPr lang="en-US" sz="1900" dirty="0">
                <a:latin typeface="Arial (Body)"/>
              </a:rPr>
              <a:t>A function is executed when "something" </a:t>
            </a:r>
            <a:r>
              <a:rPr lang="en-US" sz="1900" dirty="0">
                <a:solidFill>
                  <a:srgbClr val="FF0000"/>
                </a:solidFill>
                <a:latin typeface="Arial (Body)"/>
              </a:rPr>
              <a:t>invokes</a:t>
            </a:r>
            <a:r>
              <a:rPr lang="en-US" sz="1900" dirty="0">
                <a:latin typeface="Arial (Body)"/>
              </a:rPr>
              <a:t> it (calls it).</a:t>
            </a:r>
          </a:p>
          <a:p>
            <a:pPr algn="just">
              <a:lnSpc>
                <a:spcPct val="150000"/>
              </a:lnSpc>
            </a:pPr>
            <a:r>
              <a:rPr lang="en-US" sz="1900" dirty="0">
                <a:latin typeface="Arial (Body)"/>
              </a:rPr>
              <a:t>In JavaScript function is defined with the function keyword, followed by a name, followed by parentheses ().</a:t>
            </a:r>
          </a:p>
          <a:p>
            <a:pPr algn="just"/>
            <a:r>
              <a:rPr lang="en-US" sz="1900" dirty="0">
                <a:solidFill>
                  <a:srgbClr val="FF0000"/>
                </a:solidFill>
                <a:latin typeface="Arial (Body)"/>
              </a:rPr>
              <a:t>Function names </a:t>
            </a:r>
            <a:r>
              <a:rPr lang="en-US" sz="1900" dirty="0">
                <a:latin typeface="Arial (Body)"/>
              </a:rPr>
              <a:t>can contain letters, digits, underscores, and dollar signs (same rules as variables).</a:t>
            </a:r>
          </a:p>
          <a:p>
            <a:pPr algn="just"/>
            <a:r>
              <a:rPr lang="en-US" sz="1900" dirty="0">
                <a:latin typeface="Arial (Body)"/>
              </a:rPr>
              <a:t>The </a:t>
            </a:r>
            <a:r>
              <a:rPr lang="en-US" sz="1900" dirty="0">
                <a:solidFill>
                  <a:srgbClr val="FF0000"/>
                </a:solidFill>
                <a:latin typeface="Arial (Body)"/>
              </a:rPr>
              <a:t>parentheses</a:t>
            </a:r>
            <a:r>
              <a:rPr lang="en-US" sz="1900" dirty="0">
                <a:latin typeface="Arial (Body)"/>
              </a:rPr>
              <a:t> may include parameter names separated by commas:</a:t>
            </a:r>
          </a:p>
          <a:p>
            <a:pPr algn="just"/>
            <a:r>
              <a:rPr lang="en-US" sz="1900" dirty="0">
                <a:latin typeface="Arial (Body)"/>
              </a:rPr>
              <a:t>(parameter1, parameter2, ...)</a:t>
            </a:r>
          </a:p>
          <a:p>
            <a:pPr algn="just"/>
            <a:r>
              <a:rPr lang="en-US" sz="1900" dirty="0">
                <a:latin typeface="Arial (Body)"/>
              </a:rPr>
              <a:t>The code to be executed, by the function, is placed inside curly brackets: {}</a:t>
            </a:r>
          </a:p>
        </p:txBody>
      </p:sp>
    </p:spTree>
    <p:extLst>
      <p:ext uri="{BB962C8B-B14F-4D97-AF65-F5344CB8AC3E}">
        <p14:creationId xmlns:p14="http://schemas.microsoft.com/office/powerpoint/2010/main" val="4230656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3200" dirty="0">
                <a:latin typeface="+mj-lt"/>
                <a:ea typeface="+mj-ea"/>
                <a:cs typeface="Arial"/>
              </a:rPr>
              <a:t>Practice 1.1</a:t>
            </a:r>
            <a:endParaRPr lang="en-SO" sz="2800" dirty="0">
              <a:solidFill>
                <a:schemeClr val="tx1"/>
              </a:solidFill>
              <a:latin typeface="+mj-lt"/>
            </a:endParaRPr>
          </a:p>
        </p:txBody>
      </p:sp>
      <p:sp>
        <p:nvSpPr>
          <p:cNvPr id="9" name="TextBox 8">
            <a:extLst>
              <a:ext uri="{FF2B5EF4-FFF2-40B4-BE49-F238E27FC236}">
                <a16:creationId xmlns:a16="http://schemas.microsoft.com/office/drawing/2014/main" id="{C4DD1AC3-FFDA-CD61-4D8C-8B6A8EC58B7D}"/>
              </a:ext>
            </a:extLst>
          </p:cNvPr>
          <p:cNvSpPr txBox="1"/>
          <p:nvPr/>
        </p:nvSpPr>
        <p:spPr>
          <a:xfrm>
            <a:off x="650488" y="831649"/>
            <a:ext cx="4572000" cy="1815882"/>
          </a:xfrm>
          <a:prstGeom prst="rect">
            <a:avLst/>
          </a:prstGeom>
          <a:noFill/>
        </p:spPr>
        <p:txBody>
          <a:bodyPr wrap="square">
            <a:spAutoFit/>
          </a:bodyPr>
          <a:lstStyle/>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&lt;script&gt;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Calculate(3,5,6);</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function Calculate(</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x,y,z</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var result=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x+y</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*z;</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alert("your result is :" +result)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&lt;/script&gt;</a:t>
            </a:r>
          </a:p>
        </p:txBody>
      </p:sp>
      <p:pic>
        <p:nvPicPr>
          <p:cNvPr id="13" name="Picture 12">
            <a:extLst>
              <a:ext uri="{FF2B5EF4-FFF2-40B4-BE49-F238E27FC236}">
                <a16:creationId xmlns:a16="http://schemas.microsoft.com/office/drawing/2014/main" id="{A9EDC12A-A841-6596-8F92-93C62E4E1138}"/>
              </a:ext>
            </a:extLst>
          </p:cNvPr>
          <p:cNvPicPr>
            <a:picLocks noChangeAspect="1"/>
          </p:cNvPicPr>
          <p:nvPr/>
        </p:nvPicPr>
        <p:blipFill rotWithShape="1">
          <a:blip r:embed="rId2"/>
          <a:srcRect t="28559" r="1357" b="7757"/>
          <a:stretch/>
        </p:blipFill>
        <p:spPr>
          <a:xfrm>
            <a:off x="568712" y="3494049"/>
            <a:ext cx="5252225" cy="9887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extBox 2">
            <a:extLst>
              <a:ext uri="{FF2B5EF4-FFF2-40B4-BE49-F238E27FC236}">
                <a16:creationId xmlns:a16="http://schemas.microsoft.com/office/drawing/2014/main" id="{85EB1A3E-98D5-9F45-5A7C-50C039023D1A}"/>
              </a:ext>
            </a:extLst>
          </p:cNvPr>
          <p:cNvSpPr txBox="1"/>
          <p:nvPr/>
        </p:nvSpPr>
        <p:spPr>
          <a:xfrm>
            <a:off x="568712" y="3092718"/>
            <a:ext cx="2662492" cy="307777"/>
          </a:xfrm>
          <a:prstGeom prst="rect">
            <a:avLst/>
          </a:prstGeom>
          <a:noFill/>
        </p:spPr>
        <p:txBody>
          <a:bodyPr wrap="square">
            <a:spAutoFit/>
          </a:bodyPr>
          <a:lstStyle/>
          <a:p>
            <a:r>
              <a:rPr lang="en-US" sz="1400" dirty="0">
                <a:solidFill>
                  <a:srgbClr val="FF0000"/>
                </a:solidFill>
                <a:latin typeface="Arial (Body)"/>
              </a:rPr>
              <a:t>Output</a:t>
            </a:r>
            <a:endParaRPr lang="en-US" dirty="0">
              <a:solidFill>
                <a:srgbClr val="FF0000"/>
              </a:solidFill>
            </a:endParaRPr>
          </a:p>
        </p:txBody>
      </p:sp>
      <p:sp>
        <p:nvSpPr>
          <p:cNvPr id="5" name="TextBox 4">
            <a:extLst>
              <a:ext uri="{FF2B5EF4-FFF2-40B4-BE49-F238E27FC236}">
                <a16:creationId xmlns:a16="http://schemas.microsoft.com/office/drawing/2014/main" id="{8119DD75-3371-F60B-903C-199EB1B98771}"/>
              </a:ext>
            </a:extLst>
          </p:cNvPr>
          <p:cNvSpPr txBox="1"/>
          <p:nvPr/>
        </p:nvSpPr>
        <p:spPr>
          <a:xfrm>
            <a:off x="318544" y="550448"/>
            <a:ext cx="4572000" cy="338554"/>
          </a:xfrm>
          <a:prstGeom prst="rect">
            <a:avLst/>
          </a:prstGeom>
          <a:noFill/>
        </p:spPr>
        <p:txBody>
          <a:bodyPr wrap="square">
            <a:spAutoFit/>
          </a:bodyPr>
          <a:lstStyle/>
          <a:p>
            <a:r>
              <a:rPr lang="en-US" altLang="en-US" sz="1600" b="1" i="1" dirty="0">
                <a:latin typeface="Times New Roman" panose="02020603050405020304" pitchFamily="18" charset="0"/>
                <a:ea typeface="+mj-ea"/>
                <a:cs typeface="Arial"/>
              </a:rPr>
              <a:t> function with no return value</a:t>
            </a:r>
            <a:endParaRPr lang="en-US" sz="1600" b="1" i="1" dirty="0"/>
          </a:p>
        </p:txBody>
      </p:sp>
    </p:spTree>
    <p:extLst>
      <p:ext uri="{BB962C8B-B14F-4D97-AF65-F5344CB8AC3E}">
        <p14:creationId xmlns:p14="http://schemas.microsoft.com/office/powerpoint/2010/main" val="4264316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3200" dirty="0">
                <a:latin typeface="+mj-lt"/>
                <a:ea typeface="+mj-ea"/>
                <a:cs typeface="Arial"/>
              </a:rPr>
              <a:t>Practice 1.2</a:t>
            </a:r>
            <a:endParaRPr lang="en-SO" sz="2800" dirty="0">
              <a:solidFill>
                <a:schemeClr val="tx1"/>
              </a:solidFill>
              <a:latin typeface="+mj-lt"/>
            </a:endParaRPr>
          </a:p>
        </p:txBody>
      </p:sp>
      <p:sp>
        <p:nvSpPr>
          <p:cNvPr id="9" name="TextBox 8">
            <a:extLst>
              <a:ext uri="{FF2B5EF4-FFF2-40B4-BE49-F238E27FC236}">
                <a16:creationId xmlns:a16="http://schemas.microsoft.com/office/drawing/2014/main" id="{C4DD1AC3-FFDA-CD61-4D8C-8B6A8EC58B7D}"/>
              </a:ext>
            </a:extLst>
          </p:cNvPr>
          <p:cNvSpPr txBox="1"/>
          <p:nvPr/>
        </p:nvSpPr>
        <p:spPr>
          <a:xfrm>
            <a:off x="650487" y="831649"/>
            <a:ext cx="7653453" cy="3108543"/>
          </a:xfrm>
          <a:prstGeom prst="rect">
            <a:avLst/>
          </a:prstGeom>
          <a:noFill/>
        </p:spPr>
        <p:txBody>
          <a:bodyPr wrap="square">
            <a:spAutoFit/>
          </a:bodyPr>
          <a:lstStyle/>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&lt;script&gt;</a:t>
            </a:r>
          </a:p>
          <a:p>
            <a:b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b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let x =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toCelsius</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(60);</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let Result = "The temperature is " +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x.toFixed</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(2) + " Celsius";</a:t>
            </a:r>
          </a:p>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alert(Result);</a:t>
            </a:r>
          </a:p>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function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toCelsius</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fahrenheit</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return (5 / 9) *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fahrenheit</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- 32);</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    </a:t>
            </a:r>
          </a:p>
          <a:p>
            <a:b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b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&lt;/script&gt;</a:t>
            </a:r>
          </a:p>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pic>
        <p:nvPicPr>
          <p:cNvPr id="4" name="Picture 3">
            <a:extLst>
              <a:ext uri="{FF2B5EF4-FFF2-40B4-BE49-F238E27FC236}">
                <a16:creationId xmlns:a16="http://schemas.microsoft.com/office/drawing/2014/main" id="{2D511F78-944F-FD0F-EE69-1FF9B9E8835E}"/>
              </a:ext>
            </a:extLst>
          </p:cNvPr>
          <p:cNvPicPr>
            <a:picLocks noChangeAspect="1"/>
          </p:cNvPicPr>
          <p:nvPr/>
        </p:nvPicPr>
        <p:blipFill>
          <a:blip r:embed="rId2"/>
          <a:stretch>
            <a:fillRect/>
          </a:stretch>
        </p:blipFill>
        <p:spPr>
          <a:xfrm>
            <a:off x="783721" y="4087270"/>
            <a:ext cx="5153025" cy="9239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extBox 2">
            <a:extLst>
              <a:ext uri="{FF2B5EF4-FFF2-40B4-BE49-F238E27FC236}">
                <a16:creationId xmlns:a16="http://schemas.microsoft.com/office/drawing/2014/main" id="{CEDFD1C6-0326-6F17-D498-3B374272798F}"/>
              </a:ext>
            </a:extLst>
          </p:cNvPr>
          <p:cNvSpPr txBox="1"/>
          <p:nvPr/>
        </p:nvSpPr>
        <p:spPr>
          <a:xfrm>
            <a:off x="783721" y="3705954"/>
            <a:ext cx="2662492" cy="307777"/>
          </a:xfrm>
          <a:prstGeom prst="rect">
            <a:avLst/>
          </a:prstGeom>
          <a:noFill/>
        </p:spPr>
        <p:txBody>
          <a:bodyPr wrap="square">
            <a:spAutoFit/>
          </a:bodyPr>
          <a:lstStyle/>
          <a:p>
            <a:r>
              <a:rPr lang="en-US" sz="1400" dirty="0">
                <a:solidFill>
                  <a:srgbClr val="FF0000"/>
                </a:solidFill>
                <a:latin typeface="Arial (Body)"/>
              </a:rPr>
              <a:t>Output</a:t>
            </a:r>
            <a:endParaRPr lang="en-US" dirty="0">
              <a:solidFill>
                <a:srgbClr val="FF0000"/>
              </a:solidFill>
            </a:endParaRPr>
          </a:p>
        </p:txBody>
      </p:sp>
      <p:sp>
        <p:nvSpPr>
          <p:cNvPr id="5" name="TextBox 4">
            <a:extLst>
              <a:ext uri="{FF2B5EF4-FFF2-40B4-BE49-F238E27FC236}">
                <a16:creationId xmlns:a16="http://schemas.microsoft.com/office/drawing/2014/main" id="{907ACFC0-8E20-0278-E967-923B87A8FDFB}"/>
              </a:ext>
            </a:extLst>
          </p:cNvPr>
          <p:cNvSpPr txBox="1"/>
          <p:nvPr/>
        </p:nvSpPr>
        <p:spPr>
          <a:xfrm>
            <a:off x="192753" y="506821"/>
            <a:ext cx="4572000" cy="338554"/>
          </a:xfrm>
          <a:prstGeom prst="rect">
            <a:avLst/>
          </a:prstGeom>
          <a:noFill/>
        </p:spPr>
        <p:txBody>
          <a:bodyPr wrap="square">
            <a:spAutoFit/>
          </a:bodyPr>
          <a:lstStyle/>
          <a:p>
            <a:r>
              <a:rPr lang="en-US" altLang="en-US" sz="1600" b="1" i="1" dirty="0">
                <a:latin typeface="Times New Roman" panose="02020603050405020304" pitchFamily="18" charset="0"/>
                <a:ea typeface="+mj-ea"/>
                <a:cs typeface="Arial"/>
              </a:rPr>
              <a:t> function with return value</a:t>
            </a:r>
            <a:endParaRPr lang="en-US" sz="1600" b="1" i="1" dirty="0"/>
          </a:p>
        </p:txBody>
      </p:sp>
    </p:spTree>
    <p:extLst>
      <p:ext uri="{BB962C8B-B14F-4D97-AF65-F5344CB8AC3E}">
        <p14:creationId xmlns:p14="http://schemas.microsoft.com/office/powerpoint/2010/main" val="930473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248510" y="0"/>
            <a:ext cx="8520600" cy="607800"/>
          </a:xfrm>
        </p:spPr>
        <p:txBody>
          <a:bodyPr/>
          <a:lstStyle/>
          <a:p>
            <a:r>
              <a:rPr lang="en-US" altLang="en-US" sz="3600" dirty="0">
                <a:latin typeface="+mj-lt"/>
                <a:ea typeface="+mj-ea"/>
                <a:cs typeface="Arial"/>
              </a:rPr>
              <a:t>Arrow Functions</a:t>
            </a:r>
            <a:endParaRPr lang="en-SO" dirty="0">
              <a:solidFill>
                <a:schemeClr val="tx1"/>
              </a:solidFill>
              <a:latin typeface="+mj-lt"/>
            </a:endParaRPr>
          </a:p>
        </p:txBody>
      </p:sp>
      <p:sp>
        <p:nvSpPr>
          <p:cNvPr id="7" name="TextBox 6">
            <a:extLst>
              <a:ext uri="{FF2B5EF4-FFF2-40B4-BE49-F238E27FC236}">
                <a16:creationId xmlns:a16="http://schemas.microsoft.com/office/drawing/2014/main" id="{1AFB1C80-D6BA-3FDD-4D2E-E382A973B123}"/>
              </a:ext>
            </a:extLst>
          </p:cNvPr>
          <p:cNvSpPr txBox="1"/>
          <p:nvPr/>
        </p:nvSpPr>
        <p:spPr>
          <a:xfrm>
            <a:off x="185320" y="845663"/>
            <a:ext cx="8646980" cy="3546805"/>
          </a:xfrm>
          <a:prstGeom prst="rect">
            <a:avLst/>
          </a:prstGeom>
          <a:noFill/>
        </p:spPr>
        <p:txBody>
          <a:bodyPr wrap="square">
            <a:spAutoFit/>
          </a:bodyPr>
          <a:lstStyle/>
          <a:p>
            <a:pPr algn="just"/>
            <a:r>
              <a:rPr lang="en-US" sz="1900" dirty="0">
                <a:solidFill>
                  <a:srgbClr val="FF0000"/>
                </a:solidFill>
                <a:latin typeface="Arial (Body)"/>
              </a:rPr>
              <a:t>Arrow functions</a:t>
            </a:r>
            <a:r>
              <a:rPr lang="en-US" sz="1900" dirty="0">
                <a:solidFill>
                  <a:schemeClr val="bg2"/>
                </a:solidFill>
                <a:latin typeface="Arial (Body)"/>
              </a:rPr>
              <a:t> introduced in ES6 provide a concise way to write functions in JavaScript</a:t>
            </a:r>
            <a:r>
              <a:rPr lang="en-US" sz="1900" dirty="0">
                <a:solidFill>
                  <a:srgbClr val="FF0000"/>
                </a:solidFill>
                <a:latin typeface="Arial (Body)"/>
              </a:rPr>
              <a:t> </a:t>
            </a:r>
            <a:r>
              <a:rPr lang="en-US" sz="1900" dirty="0">
                <a:solidFill>
                  <a:schemeClr val="bg2"/>
                </a:solidFill>
                <a:latin typeface="Arial (Body)"/>
              </a:rPr>
              <a:t>and</a:t>
            </a:r>
            <a:r>
              <a:rPr lang="en-US" sz="1900" dirty="0">
                <a:latin typeface="Arial (Body)"/>
              </a:rPr>
              <a:t> are handy for simple actions, especially for one-liners. They come in two flavors:</a:t>
            </a:r>
          </a:p>
          <a:p>
            <a:pPr algn="just">
              <a:lnSpc>
                <a:spcPct val="150000"/>
              </a:lnSpc>
            </a:pPr>
            <a:r>
              <a:rPr lang="en-US" sz="1900" dirty="0">
                <a:latin typeface="Arial (Body)"/>
              </a:rPr>
              <a:t>Without curly braces: (...</a:t>
            </a:r>
            <a:r>
              <a:rPr lang="en-US" sz="1900" dirty="0" err="1">
                <a:latin typeface="Arial (Body)"/>
              </a:rPr>
              <a:t>args</a:t>
            </a:r>
            <a:r>
              <a:rPr lang="en-US" sz="1900" dirty="0">
                <a:latin typeface="Arial (Body)"/>
              </a:rPr>
              <a:t>) =&gt; expression – the right side is an expression: the function evaluates it and returns the result. Parentheses can be omitted, if there’s only a single argument, e.g. n =&gt; n*2.</a:t>
            </a:r>
          </a:p>
          <a:p>
            <a:pPr algn="just">
              <a:lnSpc>
                <a:spcPct val="150000"/>
              </a:lnSpc>
            </a:pPr>
            <a:r>
              <a:rPr lang="en-US" sz="1900" dirty="0">
                <a:latin typeface="Arial (Body)"/>
              </a:rPr>
              <a:t>With curly braces: (...</a:t>
            </a:r>
            <a:r>
              <a:rPr lang="en-US" sz="1900" dirty="0" err="1">
                <a:latin typeface="Arial (Body)"/>
              </a:rPr>
              <a:t>args</a:t>
            </a:r>
            <a:r>
              <a:rPr lang="en-US" sz="1900" dirty="0">
                <a:latin typeface="Arial (Body)"/>
              </a:rPr>
              <a:t>) =&gt; { body } – brackets allow us to write multiple statements inside the function, but we need an explicit return to return something</a:t>
            </a:r>
            <a:r>
              <a:rPr lang="en-US" dirty="0"/>
              <a:t>.</a:t>
            </a:r>
          </a:p>
        </p:txBody>
      </p:sp>
    </p:spTree>
    <p:extLst>
      <p:ext uri="{BB962C8B-B14F-4D97-AF65-F5344CB8AC3E}">
        <p14:creationId xmlns:p14="http://schemas.microsoft.com/office/powerpoint/2010/main" val="1651121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3200" dirty="0">
                <a:latin typeface="+mj-lt"/>
                <a:ea typeface="+mj-ea"/>
                <a:cs typeface="Arial"/>
              </a:rPr>
              <a:t>Practice 1.3</a:t>
            </a:r>
            <a:endParaRPr lang="en-SO" sz="2800" dirty="0">
              <a:solidFill>
                <a:schemeClr val="tx1"/>
              </a:solidFill>
              <a:latin typeface="+mj-lt"/>
            </a:endParaRPr>
          </a:p>
        </p:txBody>
      </p:sp>
      <p:sp>
        <p:nvSpPr>
          <p:cNvPr id="9" name="TextBox 8">
            <a:extLst>
              <a:ext uri="{FF2B5EF4-FFF2-40B4-BE49-F238E27FC236}">
                <a16:creationId xmlns:a16="http://schemas.microsoft.com/office/drawing/2014/main" id="{C4DD1AC3-FFDA-CD61-4D8C-8B6A8EC58B7D}"/>
              </a:ext>
            </a:extLst>
          </p:cNvPr>
          <p:cNvSpPr txBox="1"/>
          <p:nvPr/>
        </p:nvSpPr>
        <p:spPr>
          <a:xfrm>
            <a:off x="650487" y="831649"/>
            <a:ext cx="8300759" cy="2031325"/>
          </a:xfrm>
          <a:prstGeom prst="rect">
            <a:avLst/>
          </a:prstGeom>
          <a:noFill/>
        </p:spPr>
        <p:txBody>
          <a:bodyPr wrap="square">
            <a:spAutoFit/>
          </a:bodyPr>
          <a:lstStyle/>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&lt;script&gt;</a:t>
            </a:r>
          </a:p>
          <a:p>
            <a:b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b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let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StudentBalance</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TutionFee,NumOfMonths</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)=&gt;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TutionFee</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NumOfMonths</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alert("balance of this Student according to his/her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tution</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fee and Number of Months is "+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StudentBalance</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(5,2));</a:t>
            </a:r>
          </a:p>
          <a:p>
            <a:b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b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&lt;/script&gt;</a:t>
            </a:r>
          </a:p>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pic>
        <p:nvPicPr>
          <p:cNvPr id="4" name="Picture 3">
            <a:extLst>
              <a:ext uri="{FF2B5EF4-FFF2-40B4-BE49-F238E27FC236}">
                <a16:creationId xmlns:a16="http://schemas.microsoft.com/office/drawing/2014/main" id="{1A72B8D8-F9F7-08A2-DA33-D495B285D907}"/>
              </a:ext>
            </a:extLst>
          </p:cNvPr>
          <p:cNvPicPr>
            <a:picLocks noChangeAspect="1"/>
          </p:cNvPicPr>
          <p:nvPr/>
        </p:nvPicPr>
        <p:blipFill>
          <a:blip r:embed="rId2"/>
          <a:stretch>
            <a:fillRect/>
          </a:stretch>
        </p:blipFill>
        <p:spPr>
          <a:xfrm>
            <a:off x="568712" y="3264055"/>
            <a:ext cx="5172075" cy="1143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extBox 2">
            <a:extLst>
              <a:ext uri="{FF2B5EF4-FFF2-40B4-BE49-F238E27FC236}">
                <a16:creationId xmlns:a16="http://schemas.microsoft.com/office/drawing/2014/main" id="{C238D1D4-56C1-5C24-4D48-B0E11CA9EFB4}"/>
              </a:ext>
            </a:extLst>
          </p:cNvPr>
          <p:cNvSpPr txBox="1"/>
          <p:nvPr/>
        </p:nvSpPr>
        <p:spPr>
          <a:xfrm>
            <a:off x="492257" y="2862974"/>
            <a:ext cx="2662492" cy="307777"/>
          </a:xfrm>
          <a:prstGeom prst="rect">
            <a:avLst/>
          </a:prstGeom>
          <a:noFill/>
        </p:spPr>
        <p:txBody>
          <a:bodyPr wrap="square">
            <a:spAutoFit/>
          </a:bodyPr>
          <a:lstStyle/>
          <a:p>
            <a:r>
              <a:rPr lang="en-US" sz="1400" dirty="0">
                <a:solidFill>
                  <a:srgbClr val="FF0000"/>
                </a:solidFill>
                <a:latin typeface="Arial (Body)"/>
              </a:rPr>
              <a:t>Output</a:t>
            </a:r>
            <a:endParaRPr lang="en-US" dirty="0">
              <a:solidFill>
                <a:srgbClr val="FF0000"/>
              </a:solidFill>
            </a:endParaRPr>
          </a:p>
        </p:txBody>
      </p:sp>
    </p:spTree>
    <p:extLst>
      <p:ext uri="{BB962C8B-B14F-4D97-AF65-F5344CB8AC3E}">
        <p14:creationId xmlns:p14="http://schemas.microsoft.com/office/powerpoint/2010/main" val="3543970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A6D39F0-4C51-8D78-8A1D-FE0CD290B941}"/>
              </a:ext>
            </a:extLst>
          </p:cNvPr>
          <p:cNvPicPr>
            <a:picLocks noChangeAspect="1"/>
          </p:cNvPicPr>
          <p:nvPr/>
        </p:nvPicPr>
        <p:blipFill>
          <a:blip r:embed="rId2"/>
          <a:stretch>
            <a:fillRect/>
          </a:stretch>
        </p:blipFill>
        <p:spPr>
          <a:xfrm>
            <a:off x="2385084" y="1673555"/>
            <a:ext cx="3494434" cy="1325658"/>
          </a:xfrm>
          <a:prstGeom prst="rect">
            <a:avLst/>
          </a:prstGeom>
        </p:spPr>
      </p:pic>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682342" y="426274"/>
            <a:ext cx="6971004" cy="500645"/>
          </a:xfrm>
        </p:spPr>
        <p:txBody>
          <a:bodyPr/>
          <a:lstStyle/>
          <a:p>
            <a:r>
              <a:rPr lang="en-US" altLang="en-US" sz="2000" b="1" dirty="0">
                <a:solidFill>
                  <a:schemeClr val="accent6">
                    <a:lumMod val="50000"/>
                  </a:schemeClr>
                </a:solidFill>
                <a:latin typeface="Times New Roman" panose="02020603050405020304" pitchFamily="18" charset="0"/>
                <a:ea typeface="+mj-ea"/>
                <a:cs typeface="Arial"/>
              </a:rPr>
              <a:t>Core Advantages of Arrow Functions</a:t>
            </a:r>
            <a:endParaRPr lang="en-SO" sz="1800" b="1" dirty="0">
              <a:solidFill>
                <a:schemeClr val="accent6">
                  <a:lumMod val="50000"/>
                </a:schemeClr>
              </a:solidFill>
            </a:endParaRPr>
          </a:p>
        </p:txBody>
      </p:sp>
      <p:sp>
        <p:nvSpPr>
          <p:cNvPr id="5" name="Rectangle 4">
            <a:extLst>
              <a:ext uri="{FF2B5EF4-FFF2-40B4-BE49-F238E27FC236}">
                <a16:creationId xmlns:a16="http://schemas.microsoft.com/office/drawing/2014/main" id="{CB48B43C-04AC-EFE6-6A42-9457994F9F3D}"/>
              </a:ext>
            </a:extLst>
          </p:cNvPr>
          <p:cNvSpPr/>
          <p:nvPr/>
        </p:nvSpPr>
        <p:spPr>
          <a:xfrm>
            <a:off x="72426" y="926919"/>
            <a:ext cx="2371492" cy="8549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 Reduces code size</a:t>
            </a:r>
          </a:p>
        </p:txBody>
      </p:sp>
      <p:sp>
        <p:nvSpPr>
          <p:cNvPr id="6" name="Rectangle 5">
            <a:extLst>
              <a:ext uri="{FF2B5EF4-FFF2-40B4-BE49-F238E27FC236}">
                <a16:creationId xmlns:a16="http://schemas.microsoft.com/office/drawing/2014/main" id="{95896E9D-45D3-2D00-1A81-7016B09D2612}"/>
              </a:ext>
            </a:extLst>
          </p:cNvPr>
          <p:cNvSpPr/>
          <p:nvPr/>
        </p:nvSpPr>
        <p:spPr>
          <a:xfrm>
            <a:off x="5879518" y="843456"/>
            <a:ext cx="2460702" cy="8549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 Return statement is optional for single line function</a:t>
            </a:r>
          </a:p>
        </p:txBody>
      </p:sp>
      <p:sp>
        <p:nvSpPr>
          <p:cNvPr id="8" name="Rectangle 7">
            <a:extLst>
              <a:ext uri="{FF2B5EF4-FFF2-40B4-BE49-F238E27FC236}">
                <a16:creationId xmlns:a16="http://schemas.microsoft.com/office/drawing/2014/main" id="{F59EE586-5F9D-3AFD-47B3-35E4F59C181A}"/>
              </a:ext>
            </a:extLst>
          </p:cNvPr>
          <p:cNvSpPr/>
          <p:nvPr/>
        </p:nvSpPr>
        <p:spPr>
          <a:xfrm>
            <a:off x="72426" y="2945068"/>
            <a:ext cx="2371492" cy="8549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 Functional braces are optional for single line statement</a:t>
            </a:r>
          </a:p>
        </p:txBody>
      </p:sp>
      <p:sp>
        <p:nvSpPr>
          <p:cNvPr id="3" name="Rectangle 2">
            <a:extLst>
              <a:ext uri="{FF2B5EF4-FFF2-40B4-BE49-F238E27FC236}">
                <a16:creationId xmlns:a16="http://schemas.microsoft.com/office/drawing/2014/main" id="{0B383972-E531-D57A-2F49-A019981868FF}"/>
              </a:ext>
            </a:extLst>
          </p:cNvPr>
          <p:cNvSpPr/>
          <p:nvPr/>
        </p:nvSpPr>
        <p:spPr>
          <a:xfrm>
            <a:off x="5879518" y="2890922"/>
            <a:ext cx="2460702" cy="8549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4.Lexically bind the context</a:t>
            </a:r>
          </a:p>
        </p:txBody>
      </p:sp>
      <p:sp>
        <p:nvSpPr>
          <p:cNvPr id="10" name="TextBox 9">
            <a:extLst>
              <a:ext uri="{FF2B5EF4-FFF2-40B4-BE49-F238E27FC236}">
                <a16:creationId xmlns:a16="http://schemas.microsoft.com/office/drawing/2014/main" id="{FC85E076-8667-6830-67A2-94FB9331F6D5}"/>
              </a:ext>
            </a:extLst>
          </p:cNvPr>
          <p:cNvSpPr txBox="1"/>
          <p:nvPr/>
        </p:nvSpPr>
        <p:spPr>
          <a:xfrm>
            <a:off x="72426" y="3984281"/>
            <a:ext cx="8751906" cy="738664"/>
          </a:xfrm>
          <a:prstGeom prst="rect">
            <a:avLst/>
          </a:prstGeom>
          <a:noFill/>
        </p:spPr>
        <p:txBody>
          <a:bodyPr wrap="square">
            <a:spAutoFit/>
          </a:bodyPr>
          <a:lstStyle/>
          <a:p>
            <a:pPr algn="just"/>
            <a:r>
              <a:rPr lang="en-US" i="0" dirty="0">
                <a:solidFill>
                  <a:srgbClr val="FF0000"/>
                </a:solidFill>
                <a:effectLst/>
                <a:latin typeface="+mj-lt"/>
              </a:rPr>
              <a:t>Arrow functions </a:t>
            </a:r>
            <a:r>
              <a:rPr lang="en-US" b="0" i="0" dirty="0">
                <a:solidFill>
                  <a:schemeClr val="bg2"/>
                </a:solidFill>
                <a:effectLst/>
                <a:latin typeface="+mj-lt"/>
              </a:rPr>
              <a:t>can also be written as a more compact alternative to traditional functions, as they grant the ability to omit parentheses around parameters and add the concept of a concise function body with implicit return.</a:t>
            </a:r>
            <a:endParaRPr lang="en-US" dirty="0">
              <a:solidFill>
                <a:schemeClr val="bg2"/>
              </a:solidFill>
              <a:latin typeface="+mj-lt"/>
            </a:endParaRPr>
          </a:p>
        </p:txBody>
      </p:sp>
      <p:sp>
        <p:nvSpPr>
          <p:cNvPr id="12" name="TextBox 11">
            <a:extLst>
              <a:ext uri="{FF2B5EF4-FFF2-40B4-BE49-F238E27FC236}">
                <a16:creationId xmlns:a16="http://schemas.microsoft.com/office/drawing/2014/main" id="{71CF9C41-45E9-F92E-88B2-57FE550C70A2}"/>
              </a:ext>
            </a:extLst>
          </p:cNvPr>
          <p:cNvSpPr txBox="1"/>
          <p:nvPr/>
        </p:nvSpPr>
        <p:spPr>
          <a:xfrm>
            <a:off x="125183" y="-20695"/>
            <a:ext cx="5981624" cy="646331"/>
          </a:xfrm>
          <a:prstGeom prst="rect">
            <a:avLst/>
          </a:prstGeom>
          <a:noFill/>
        </p:spPr>
        <p:txBody>
          <a:bodyPr wrap="square">
            <a:spAutoFit/>
          </a:bodyPr>
          <a:lstStyle/>
          <a:p>
            <a:r>
              <a:rPr lang="en-US" altLang="en-US" sz="3600" dirty="0">
                <a:solidFill>
                  <a:schemeClr val="dk1"/>
                </a:solidFill>
                <a:latin typeface="+mj-lt"/>
                <a:ea typeface="+mj-ea"/>
                <a:sym typeface="Roboto"/>
              </a:rPr>
              <a:t>Cont.…</a:t>
            </a:r>
            <a:endParaRPr lang="en-US" sz="3600" dirty="0">
              <a:solidFill>
                <a:schemeClr val="dk1"/>
              </a:solidFill>
              <a:latin typeface="+mj-lt"/>
              <a:ea typeface="+mj-ea"/>
              <a:sym typeface="Roboto"/>
            </a:endParaRPr>
          </a:p>
        </p:txBody>
      </p:sp>
    </p:spTree>
    <p:extLst>
      <p:ext uri="{BB962C8B-B14F-4D97-AF65-F5344CB8AC3E}">
        <p14:creationId xmlns:p14="http://schemas.microsoft.com/office/powerpoint/2010/main" val="3172320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203256" y="48381"/>
            <a:ext cx="8520600" cy="607800"/>
          </a:xfrm>
        </p:spPr>
        <p:txBody>
          <a:bodyPr/>
          <a:lstStyle/>
          <a:p>
            <a:pPr algn="just"/>
            <a:r>
              <a:rPr lang="en-US" altLang="en-US" sz="3600" dirty="0">
                <a:latin typeface="+mj-lt"/>
                <a:ea typeface="+mj-ea"/>
                <a:cs typeface="Arial"/>
              </a:rPr>
              <a:t>Default Parameter Values</a:t>
            </a:r>
            <a:endParaRPr lang="en-SO" dirty="0">
              <a:solidFill>
                <a:schemeClr val="tx1"/>
              </a:solidFill>
              <a:latin typeface="+mj-lt"/>
            </a:endParaRPr>
          </a:p>
        </p:txBody>
      </p:sp>
      <p:sp>
        <p:nvSpPr>
          <p:cNvPr id="4" name="TextBox 3">
            <a:extLst>
              <a:ext uri="{FF2B5EF4-FFF2-40B4-BE49-F238E27FC236}">
                <a16:creationId xmlns:a16="http://schemas.microsoft.com/office/drawing/2014/main" id="{AE3E40F2-9444-2F88-AC62-1D43CFE69B00}"/>
              </a:ext>
            </a:extLst>
          </p:cNvPr>
          <p:cNvSpPr txBox="1"/>
          <p:nvPr/>
        </p:nvSpPr>
        <p:spPr>
          <a:xfrm>
            <a:off x="304800" y="749800"/>
            <a:ext cx="8476344" cy="3985386"/>
          </a:xfrm>
          <a:prstGeom prst="rect">
            <a:avLst/>
          </a:prstGeom>
          <a:noFill/>
        </p:spPr>
        <p:txBody>
          <a:bodyPr wrap="square">
            <a:spAutoFit/>
          </a:bodyPr>
          <a:lstStyle/>
          <a:p>
            <a:pPr algn="just">
              <a:lnSpc>
                <a:spcPct val="150000"/>
              </a:lnSpc>
            </a:pPr>
            <a:r>
              <a:rPr lang="en-US" sz="1900" dirty="0">
                <a:latin typeface="Arial (Body)"/>
              </a:rPr>
              <a:t>The term default can be understood as an option that is always available when no other options are appropriate. Similarly, a default value is a value that will always be available. In terms of computer programming language, almost every programming language has one or the other specified default values for the in-built functions or properties.</a:t>
            </a:r>
          </a:p>
          <a:p>
            <a:pPr algn="just">
              <a:lnSpc>
                <a:spcPct val="150000"/>
              </a:lnSpc>
            </a:pPr>
            <a:r>
              <a:rPr lang="en-US" sz="1900" dirty="0">
                <a:latin typeface="Arial (Body)"/>
              </a:rPr>
              <a:t>In </a:t>
            </a:r>
            <a:r>
              <a:rPr lang="en-US" sz="1900" dirty="0">
                <a:solidFill>
                  <a:srgbClr val="FF0000"/>
                </a:solidFill>
                <a:latin typeface="Arial (Body)"/>
              </a:rPr>
              <a:t>JavaScript</a:t>
            </a:r>
            <a:r>
              <a:rPr lang="en-US" sz="1900" dirty="0">
                <a:latin typeface="Arial (Body)"/>
              </a:rPr>
              <a:t> When no value is passed in the function definition, a default value is being set for the function definition, known as the default parameter. It allows the named parameters to get initialized with a default value when either undefined or no value is passed.</a:t>
            </a:r>
          </a:p>
        </p:txBody>
      </p:sp>
    </p:spTree>
    <p:extLst>
      <p:ext uri="{BB962C8B-B14F-4D97-AF65-F5344CB8AC3E}">
        <p14:creationId xmlns:p14="http://schemas.microsoft.com/office/powerpoint/2010/main" val="3622264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2800" dirty="0">
                <a:latin typeface="+mj-lt"/>
                <a:ea typeface="+mj-ea"/>
                <a:cs typeface="Arial"/>
              </a:rPr>
              <a:t>Practice 1.4</a:t>
            </a:r>
            <a:endParaRPr lang="en-SO" dirty="0">
              <a:solidFill>
                <a:schemeClr val="tx1"/>
              </a:solidFill>
              <a:latin typeface="+mj-lt"/>
            </a:endParaRPr>
          </a:p>
        </p:txBody>
      </p:sp>
      <p:sp>
        <p:nvSpPr>
          <p:cNvPr id="5" name="TextBox 4">
            <a:extLst>
              <a:ext uri="{FF2B5EF4-FFF2-40B4-BE49-F238E27FC236}">
                <a16:creationId xmlns:a16="http://schemas.microsoft.com/office/drawing/2014/main" id="{C9971333-7485-9CE8-BDDC-76D01377F97F}"/>
              </a:ext>
            </a:extLst>
          </p:cNvPr>
          <p:cNvSpPr txBox="1"/>
          <p:nvPr/>
        </p:nvSpPr>
        <p:spPr>
          <a:xfrm>
            <a:off x="107795" y="538095"/>
            <a:ext cx="8739373" cy="2462213"/>
          </a:xfrm>
          <a:prstGeom prst="rect">
            <a:avLst/>
          </a:prstGeom>
          <a:noFill/>
        </p:spPr>
        <p:txBody>
          <a:bodyPr wrap="square">
            <a:spAutoFit/>
          </a:bodyPr>
          <a:lstStyle/>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&lt;script&gt;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let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studentInfo</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Name,Grade</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="C",</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Secondary_Pass_Marks</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=9)=&gt;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return Name+" -Grade "+Grade+ "- Pass Marks in Secondary "+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Secondary_Pass_Marks</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let Name="Omar Ali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Malin</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let Grade="A";</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let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Secondary_Pass_Marks</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="89";</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console.log(</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studentInfo</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(Name))</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&lt;/script&gt;</a:t>
            </a:r>
          </a:p>
        </p:txBody>
      </p:sp>
      <p:sp>
        <p:nvSpPr>
          <p:cNvPr id="6" name="TextBox 5">
            <a:extLst>
              <a:ext uri="{FF2B5EF4-FFF2-40B4-BE49-F238E27FC236}">
                <a16:creationId xmlns:a16="http://schemas.microsoft.com/office/drawing/2014/main" id="{3D5A3852-7E5F-DFE2-E9B5-8612052068C2}"/>
              </a:ext>
            </a:extLst>
          </p:cNvPr>
          <p:cNvSpPr txBox="1"/>
          <p:nvPr/>
        </p:nvSpPr>
        <p:spPr>
          <a:xfrm>
            <a:off x="118947" y="3086219"/>
            <a:ext cx="4572000" cy="307777"/>
          </a:xfrm>
          <a:prstGeom prst="rect">
            <a:avLst/>
          </a:prstGeom>
          <a:noFill/>
        </p:spPr>
        <p:txBody>
          <a:bodyPr wrap="square">
            <a:spAutoFit/>
          </a:bodyPr>
          <a:lstStyle/>
          <a:p>
            <a:r>
              <a:rPr lang="en-US" sz="1400" dirty="0">
                <a:latin typeface="Arial (Body)"/>
              </a:rPr>
              <a:t>Output displaying in </a:t>
            </a:r>
            <a:r>
              <a:rPr lang="en-US" dirty="0">
                <a:latin typeface="Arial (Body)"/>
              </a:rPr>
              <a:t>JavaScript console</a:t>
            </a:r>
            <a:endParaRPr lang="en-US" dirty="0"/>
          </a:p>
        </p:txBody>
      </p:sp>
      <p:pic>
        <p:nvPicPr>
          <p:cNvPr id="8" name="Picture 7">
            <a:extLst>
              <a:ext uri="{FF2B5EF4-FFF2-40B4-BE49-F238E27FC236}">
                <a16:creationId xmlns:a16="http://schemas.microsoft.com/office/drawing/2014/main" id="{5F247CA6-D610-50D0-C41F-5E562D7B6E9F}"/>
              </a:ext>
            </a:extLst>
          </p:cNvPr>
          <p:cNvPicPr>
            <a:picLocks noChangeAspect="1"/>
          </p:cNvPicPr>
          <p:nvPr/>
        </p:nvPicPr>
        <p:blipFill>
          <a:blip r:embed="rId2"/>
          <a:stretch>
            <a:fillRect/>
          </a:stretch>
        </p:blipFill>
        <p:spPr>
          <a:xfrm>
            <a:off x="337721" y="3479907"/>
            <a:ext cx="4353226" cy="12387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74027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18947" y="82247"/>
            <a:ext cx="8520600" cy="607800"/>
          </a:xfrm>
        </p:spPr>
        <p:txBody>
          <a:bodyPr/>
          <a:lstStyle/>
          <a:p>
            <a:pPr algn="just"/>
            <a:r>
              <a:rPr lang="en-US" altLang="en-US" sz="3600" dirty="0">
                <a:latin typeface="+mj-lt"/>
                <a:ea typeface="+mj-ea"/>
                <a:cs typeface="Arial"/>
              </a:rPr>
              <a:t>Callback Function </a:t>
            </a:r>
            <a:endParaRPr lang="en-SO" dirty="0">
              <a:solidFill>
                <a:schemeClr val="tx1"/>
              </a:solidFill>
              <a:latin typeface="+mj-lt"/>
            </a:endParaRPr>
          </a:p>
        </p:txBody>
      </p:sp>
      <p:sp>
        <p:nvSpPr>
          <p:cNvPr id="4" name="TextBox 3">
            <a:extLst>
              <a:ext uri="{FF2B5EF4-FFF2-40B4-BE49-F238E27FC236}">
                <a16:creationId xmlns:a16="http://schemas.microsoft.com/office/drawing/2014/main" id="{AE3E40F2-9444-2F88-AC62-1D43CFE69B00}"/>
              </a:ext>
            </a:extLst>
          </p:cNvPr>
          <p:cNvSpPr txBox="1"/>
          <p:nvPr/>
        </p:nvSpPr>
        <p:spPr>
          <a:xfrm>
            <a:off x="217000" y="749800"/>
            <a:ext cx="8520600" cy="3546805"/>
          </a:xfrm>
          <a:prstGeom prst="rect">
            <a:avLst/>
          </a:prstGeom>
          <a:noFill/>
        </p:spPr>
        <p:txBody>
          <a:bodyPr wrap="square">
            <a:spAutoFit/>
          </a:bodyPr>
          <a:lstStyle/>
          <a:p>
            <a:pPr algn="just">
              <a:lnSpc>
                <a:spcPct val="150000"/>
              </a:lnSpc>
            </a:pPr>
            <a:r>
              <a:rPr lang="en-US" sz="1900" dirty="0">
                <a:latin typeface="Arial (Body)"/>
              </a:rPr>
              <a:t>A </a:t>
            </a:r>
            <a:r>
              <a:rPr lang="en-US" sz="1900" dirty="0">
                <a:solidFill>
                  <a:srgbClr val="FF0000"/>
                </a:solidFill>
                <a:latin typeface="Arial (Body)"/>
              </a:rPr>
              <a:t>callback Function </a:t>
            </a:r>
            <a:r>
              <a:rPr lang="en-US" sz="1900" dirty="0">
                <a:latin typeface="Arial (Body)"/>
              </a:rPr>
              <a:t>is a function passed into another function as an argument, which is then invoked inside the outer function to complete some kind of routine or action.</a:t>
            </a:r>
          </a:p>
          <a:p>
            <a:pPr algn="just">
              <a:lnSpc>
                <a:spcPct val="150000"/>
              </a:lnSpc>
            </a:pPr>
            <a:r>
              <a:rPr lang="en-US" sz="1900" dirty="0">
                <a:latin typeface="Arial (Body)"/>
              </a:rPr>
              <a:t>The main importance of a </a:t>
            </a:r>
            <a:r>
              <a:rPr lang="en-US" sz="1900" dirty="0">
                <a:solidFill>
                  <a:srgbClr val="FF0000"/>
                </a:solidFill>
                <a:latin typeface="Arial (Body)"/>
              </a:rPr>
              <a:t>callback function </a:t>
            </a:r>
            <a:r>
              <a:rPr lang="en-US" sz="1900" dirty="0">
                <a:latin typeface="Arial (Body)"/>
              </a:rPr>
              <a:t>is to execute a code in response to an event in a program. The event can be a simple answer to an input prompt or just a mouse click. With callback functions, a program can be written to execute a particular action in response to an event without stopping the whole application</a:t>
            </a:r>
          </a:p>
        </p:txBody>
      </p:sp>
    </p:spTree>
    <p:extLst>
      <p:ext uri="{BB962C8B-B14F-4D97-AF65-F5344CB8AC3E}">
        <p14:creationId xmlns:p14="http://schemas.microsoft.com/office/powerpoint/2010/main" val="1139572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2800" dirty="0">
                <a:latin typeface="+mj-lt"/>
                <a:ea typeface="+mj-ea"/>
                <a:cs typeface="Arial"/>
              </a:rPr>
              <a:t>Practice 1.5</a:t>
            </a:r>
            <a:endParaRPr lang="en-SO" dirty="0">
              <a:solidFill>
                <a:schemeClr val="tx1"/>
              </a:solidFill>
              <a:latin typeface="+mj-lt"/>
            </a:endParaRPr>
          </a:p>
        </p:txBody>
      </p:sp>
      <p:sp>
        <p:nvSpPr>
          <p:cNvPr id="7" name="TextBox 6">
            <a:extLst>
              <a:ext uri="{FF2B5EF4-FFF2-40B4-BE49-F238E27FC236}">
                <a16:creationId xmlns:a16="http://schemas.microsoft.com/office/drawing/2014/main" id="{8F6A44B0-DC50-A398-6BF1-5D3FB16C8AF5}"/>
              </a:ext>
            </a:extLst>
          </p:cNvPr>
          <p:cNvSpPr txBox="1"/>
          <p:nvPr/>
        </p:nvSpPr>
        <p:spPr>
          <a:xfrm>
            <a:off x="1055116" y="3169771"/>
            <a:ext cx="2662492" cy="307777"/>
          </a:xfrm>
          <a:prstGeom prst="rect">
            <a:avLst/>
          </a:prstGeom>
          <a:noFill/>
        </p:spPr>
        <p:txBody>
          <a:bodyPr wrap="square">
            <a:spAutoFit/>
          </a:bodyPr>
          <a:lstStyle/>
          <a:p>
            <a:r>
              <a:rPr lang="en-US" sz="1400" dirty="0">
                <a:solidFill>
                  <a:srgbClr val="FF0000"/>
                </a:solidFill>
                <a:latin typeface="Arial (Body)"/>
              </a:rPr>
              <a:t>Output</a:t>
            </a:r>
            <a:endParaRPr lang="en-US" dirty="0">
              <a:solidFill>
                <a:srgbClr val="FF0000"/>
              </a:solidFill>
            </a:endParaRPr>
          </a:p>
        </p:txBody>
      </p:sp>
      <p:sp>
        <p:nvSpPr>
          <p:cNvPr id="6" name="TextBox 5">
            <a:extLst>
              <a:ext uri="{FF2B5EF4-FFF2-40B4-BE49-F238E27FC236}">
                <a16:creationId xmlns:a16="http://schemas.microsoft.com/office/drawing/2014/main" id="{BF63A0C3-3DB9-D5D1-970D-793442A2BEE5}"/>
              </a:ext>
            </a:extLst>
          </p:cNvPr>
          <p:cNvSpPr txBox="1"/>
          <p:nvPr/>
        </p:nvSpPr>
        <p:spPr>
          <a:xfrm>
            <a:off x="281964" y="898704"/>
            <a:ext cx="5308514" cy="2246769"/>
          </a:xfrm>
          <a:prstGeom prst="rect">
            <a:avLst/>
          </a:prstGeom>
          <a:noFill/>
        </p:spPr>
        <p:txBody>
          <a:bodyPr wrap="square">
            <a:spAutoFit/>
          </a:bodyPr>
          <a:lstStyle/>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const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iterateList</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arr,callback</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)=&gt;{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for(let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i</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in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arr</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callback(</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arr</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i</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let student=["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Ahmed","Ali","Amran","Siyad</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iterateList</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(student,(name)=&gt;{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console.log(name);</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p:txBody>
      </p:sp>
      <p:pic>
        <p:nvPicPr>
          <p:cNvPr id="9" name="Picture 8">
            <a:extLst>
              <a:ext uri="{FF2B5EF4-FFF2-40B4-BE49-F238E27FC236}">
                <a16:creationId xmlns:a16="http://schemas.microsoft.com/office/drawing/2014/main" id="{D202AD72-9665-A659-EF49-CEC0D6D00B4A}"/>
              </a:ext>
            </a:extLst>
          </p:cNvPr>
          <p:cNvPicPr>
            <a:picLocks noChangeAspect="1"/>
          </p:cNvPicPr>
          <p:nvPr/>
        </p:nvPicPr>
        <p:blipFill>
          <a:blip r:embed="rId2"/>
          <a:stretch>
            <a:fillRect/>
          </a:stretch>
        </p:blipFill>
        <p:spPr>
          <a:xfrm>
            <a:off x="519344" y="3516714"/>
            <a:ext cx="3362325" cy="14859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15" name="Group 14">
            <a:extLst>
              <a:ext uri="{FF2B5EF4-FFF2-40B4-BE49-F238E27FC236}">
                <a16:creationId xmlns:a16="http://schemas.microsoft.com/office/drawing/2014/main" id="{F4F5DF01-1FAC-22B0-A52D-2B37CD4946C0}"/>
              </a:ext>
            </a:extLst>
          </p:cNvPr>
          <p:cNvGrpSpPr/>
          <p:nvPr/>
        </p:nvGrpSpPr>
        <p:grpSpPr>
          <a:xfrm>
            <a:off x="6093640" y="1364044"/>
            <a:ext cx="2593926" cy="1699063"/>
            <a:chOff x="6108508" y="1396438"/>
            <a:chExt cx="2593926" cy="1699063"/>
          </a:xfrm>
        </p:grpSpPr>
        <p:sp>
          <p:nvSpPr>
            <p:cNvPr id="10" name="Speech Bubble: Oval 9">
              <a:extLst>
                <a:ext uri="{FF2B5EF4-FFF2-40B4-BE49-F238E27FC236}">
                  <a16:creationId xmlns:a16="http://schemas.microsoft.com/office/drawing/2014/main" id="{059DDCED-2574-931B-F134-AA0A63D6912B}"/>
                </a:ext>
              </a:extLst>
            </p:cNvPr>
            <p:cNvSpPr/>
            <p:nvPr/>
          </p:nvSpPr>
          <p:spPr>
            <a:xfrm>
              <a:off x="6234298" y="1396438"/>
              <a:ext cx="2468136" cy="1613210"/>
            </a:xfrm>
            <a:prstGeom prst="wedgeEllipseCallout">
              <a:avLst>
                <a:gd name="adj1" fmla="val -131154"/>
                <a:gd name="adj2" fmla="val -66872"/>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0"/>
                <a:solidFill>
                  <a:schemeClr val="bg1"/>
                </a:solidFill>
                <a:effectLst>
                  <a:outerShdw blurRad="38100" dist="19050" dir="2700000" algn="tl" rotWithShape="0">
                    <a:schemeClr val="dk1">
                      <a:alpha val="40000"/>
                    </a:schemeClr>
                  </a:outerShdw>
                </a:effectLst>
              </a:endParaRPr>
            </a:p>
          </p:txBody>
        </p:sp>
        <p:sp>
          <p:nvSpPr>
            <p:cNvPr id="14" name="Speech Bubble: Oval 13">
              <a:extLst>
                <a:ext uri="{FF2B5EF4-FFF2-40B4-BE49-F238E27FC236}">
                  <a16:creationId xmlns:a16="http://schemas.microsoft.com/office/drawing/2014/main" id="{325AAC86-1FB5-853C-C365-69EE27A7A2C6}"/>
                </a:ext>
              </a:extLst>
            </p:cNvPr>
            <p:cNvSpPr/>
            <p:nvPr/>
          </p:nvSpPr>
          <p:spPr>
            <a:xfrm>
              <a:off x="6108508" y="1482291"/>
              <a:ext cx="2468136" cy="1613210"/>
            </a:xfrm>
            <a:prstGeom prst="wedgeEllipseCallout">
              <a:avLst>
                <a:gd name="adj1" fmla="val -144709"/>
                <a:gd name="adj2" fmla="val 24372"/>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ln w="0"/>
                  <a:solidFill>
                    <a:schemeClr val="bg1"/>
                  </a:solidFill>
                  <a:effectLst>
                    <a:outerShdw blurRad="38100" dist="19050" dir="2700000" algn="tl" rotWithShape="0">
                      <a:schemeClr val="dk1">
                        <a:alpha val="40000"/>
                      </a:schemeClr>
                    </a:outerShdw>
                  </a:effectLst>
                </a:rPr>
                <a:t>callback</a:t>
              </a:r>
              <a:r>
                <a:rPr lang="en-US" dirty="0">
                  <a:ln w="0"/>
                  <a:solidFill>
                    <a:schemeClr val="bg1"/>
                  </a:solidFill>
                  <a:effectLst>
                    <a:outerShdw blurRad="38100" dist="19050" dir="2700000" algn="tl" rotWithShape="0">
                      <a:schemeClr val="dk1">
                        <a:alpha val="40000"/>
                      </a:schemeClr>
                    </a:outerShdw>
                  </a:effectLst>
                </a:rPr>
                <a:t> is a callback function</a:t>
              </a:r>
            </a:p>
            <a:p>
              <a:pPr algn="ctr"/>
              <a:r>
                <a:rPr lang="en-US" dirty="0">
                  <a:ln w="0"/>
                  <a:solidFill>
                    <a:schemeClr val="bg1"/>
                  </a:solidFill>
                  <a:effectLst>
                    <a:outerShdw blurRad="38100" dist="19050" dir="2700000" algn="tl" rotWithShape="0">
                      <a:schemeClr val="dk1">
                        <a:alpha val="40000"/>
                      </a:schemeClr>
                    </a:outerShdw>
                  </a:effectLst>
                </a:rPr>
                <a:t>Represents in word name</a:t>
              </a:r>
            </a:p>
          </p:txBody>
        </p:sp>
      </p:grpSp>
    </p:spTree>
    <p:extLst>
      <p:ext uri="{BB962C8B-B14F-4D97-AF65-F5344CB8AC3E}">
        <p14:creationId xmlns:p14="http://schemas.microsoft.com/office/powerpoint/2010/main" val="1562149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246800" y="142000"/>
            <a:ext cx="8520600" cy="607800"/>
          </a:xfrm>
        </p:spPr>
        <p:txBody>
          <a:bodyPr/>
          <a:lstStyle/>
          <a:p>
            <a:pPr algn="just"/>
            <a:r>
              <a:rPr lang="en-US" dirty="0">
                <a:solidFill>
                  <a:schemeClr val="tx1"/>
                </a:solidFill>
                <a:latin typeface="+mj-lt"/>
              </a:rPr>
              <a:t>Function Rest Parameter</a:t>
            </a:r>
            <a:endParaRPr lang="en-SO" dirty="0">
              <a:solidFill>
                <a:schemeClr val="tx1"/>
              </a:solidFill>
              <a:latin typeface="+mj-lt"/>
            </a:endParaRPr>
          </a:p>
        </p:txBody>
      </p:sp>
      <p:sp>
        <p:nvSpPr>
          <p:cNvPr id="4" name="TextBox 3">
            <a:extLst>
              <a:ext uri="{FF2B5EF4-FFF2-40B4-BE49-F238E27FC236}">
                <a16:creationId xmlns:a16="http://schemas.microsoft.com/office/drawing/2014/main" id="{AE3E40F2-9444-2F88-AC62-1D43CFE69B00}"/>
              </a:ext>
            </a:extLst>
          </p:cNvPr>
          <p:cNvSpPr txBox="1"/>
          <p:nvPr/>
        </p:nvSpPr>
        <p:spPr>
          <a:xfrm>
            <a:off x="376600" y="749800"/>
            <a:ext cx="8061038" cy="3108223"/>
          </a:xfrm>
          <a:prstGeom prst="rect">
            <a:avLst/>
          </a:prstGeom>
          <a:noFill/>
        </p:spPr>
        <p:txBody>
          <a:bodyPr wrap="square">
            <a:spAutoFit/>
          </a:bodyPr>
          <a:lstStyle/>
          <a:p>
            <a:pPr algn="just">
              <a:lnSpc>
                <a:spcPct val="150000"/>
              </a:lnSpc>
            </a:pPr>
            <a:r>
              <a:rPr lang="en-US" sz="1900" dirty="0">
                <a:latin typeface="Arial (Body)"/>
              </a:rPr>
              <a:t>The </a:t>
            </a:r>
            <a:r>
              <a:rPr lang="en-US" sz="1900" dirty="0">
                <a:solidFill>
                  <a:srgbClr val="FF0000"/>
                </a:solidFill>
                <a:latin typeface="Arial (Body)"/>
              </a:rPr>
              <a:t>rest parameter </a:t>
            </a:r>
            <a:r>
              <a:rPr lang="en-US" sz="1900" dirty="0">
                <a:latin typeface="Arial (Body)"/>
              </a:rPr>
              <a:t>is an improved way to handle function parameters, allowing us to handle various inputs as parameters in a function. The rest parameter syntax allows us to represent an indefinite number of arguments as an array. With the help of a rest parameter, a function can be called with any number of arguments, no matter how it was defined. Rest parameter is added in ES2015 or ES6 which improved the ability to handle parameter.</a:t>
            </a:r>
          </a:p>
        </p:txBody>
      </p:sp>
    </p:spTree>
    <p:extLst>
      <p:ext uri="{BB962C8B-B14F-4D97-AF65-F5344CB8AC3E}">
        <p14:creationId xmlns:p14="http://schemas.microsoft.com/office/powerpoint/2010/main" val="1112781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93288" y="85959"/>
            <a:ext cx="8520600" cy="607800"/>
          </a:xfrm>
        </p:spPr>
        <p:txBody>
          <a:bodyPr/>
          <a:lstStyle/>
          <a:p>
            <a:r>
              <a:rPr lang="en-US" altLang="en-US" sz="2800" dirty="0">
                <a:latin typeface="+mj-lt"/>
                <a:ea typeface="+mj-ea"/>
                <a:cs typeface="Arial"/>
              </a:rPr>
              <a:t>Practice 1.6</a:t>
            </a:r>
            <a:endParaRPr lang="en-SO" dirty="0">
              <a:solidFill>
                <a:schemeClr val="tx1"/>
              </a:solidFill>
              <a:latin typeface="+mj-lt"/>
            </a:endParaRPr>
          </a:p>
        </p:txBody>
      </p:sp>
      <p:sp>
        <p:nvSpPr>
          <p:cNvPr id="5" name="TextBox 4">
            <a:extLst>
              <a:ext uri="{FF2B5EF4-FFF2-40B4-BE49-F238E27FC236}">
                <a16:creationId xmlns:a16="http://schemas.microsoft.com/office/drawing/2014/main" id="{C9971333-7485-9CE8-BDDC-76D01377F97F}"/>
              </a:ext>
            </a:extLst>
          </p:cNvPr>
          <p:cNvSpPr txBox="1"/>
          <p:nvPr/>
        </p:nvSpPr>
        <p:spPr>
          <a:xfrm>
            <a:off x="107795" y="538095"/>
            <a:ext cx="8739373"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6" name="TextBox 5">
            <a:extLst>
              <a:ext uri="{FF2B5EF4-FFF2-40B4-BE49-F238E27FC236}">
                <a16:creationId xmlns:a16="http://schemas.microsoft.com/office/drawing/2014/main" id="{3D5A3852-7E5F-DFE2-E9B5-8612052068C2}"/>
              </a:ext>
            </a:extLst>
          </p:cNvPr>
          <p:cNvSpPr txBox="1"/>
          <p:nvPr/>
        </p:nvSpPr>
        <p:spPr>
          <a:xfrm>
            <a:off x="282498" y="3640327"/>
            <a:ext cx="4572000" cy="307777"/>
          </a:xfrm>
          <a:prstGeom prst="rect">
            <a:avLst/>
          </a:prstGeom>
          <a:noFill/>
        </p:spPr>
        <p:txBody>
          <a:bodyPr wrap="square">
            <a:spAutoFit/>
          </a:bodyPr>
          <a:lstStyle/>
          <a:p>
            <a:r>
              <a:rPr lang="en-US" sz="1400" dirty="0">
                <a:latin typeface="Arial (Body)"/>
              </a:rPr>
              <a:t>Output displaying in </a:t>
            </a:r>
            <a:r>
              <a:rPr lang="en-US" dirty="0">
                <a:latin typeface="Arial (Body)"/>
              </a:rPr>
              <a:t>JavaScript console</a:t>
            </a:r>
            <a:endParaRPr lang="en-US" dirty="0"/>
          </a:p>
        </p:txBody>
      </p:sp>
      <p:pic>
        <p:nvPicPr>
          <p:cNvPr id="4" name="Picture 3">
            <a:extLst>
              <a:ext uri="{FF2B5EF4-FFF2-40B4-BE49-F238E27FC236}">
                <a16:creationId xmlns:a16="http://schemas.microsoft.com/office/drawing/2014/main" id="{DC002309-3BDB-E0C7-F950-232EC99968C3}"/>
              </a:ext>
            </a:extLst>
          </p:cNvPr>
          <p:cNvPicPr>
            <a:picLocks noChangeAspect="1"/>
          </p:cNvPicPr>
          <p:nvPr/>
        </p:nvPicPr>
        <p:blipFill>
          <a:blip r:embed="rId2"/>
          <a:stretch>
            <a:fillRect/>
          </a:stretch>
        </p:blipFill>
        <p:spPr>
          <a:xfrm>
            <a:off x="193288" y="4186176"/>
            <a:ext cx="7715250" cy="5238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a:extLst>
              <a:ext uri="{FF2B5EF4-FFF2-40B4-BE49-F238E27FC236}">
                <a16:creationId xmlns:a16="http://schemas.microsoft.com/office/drawing/2014/main" id="{3DBE6D64-392E-8521-A6FA-CB56A6D40014}"/>
              </a:ext>
            </a:extLst>
          </p:cNvPr>
          <p:cNvSpPr txBox="1"/>
          <p:nvPr/>
        </p:nvSpPr>
        <p:spPr>
          <a:xfrm>
            <a:off x="107795" y="666199"/>
            <a:ext cx="8520599" cy="2677656"/>
          </a:xfrm>
          <a:prstGeom prst="rect">
            <a:avLst/>
          </a:prstGeom>
          <a:noFill/>
        </p:spPr>
        <p:txBody>
          <a:bodyPr wrap="square">
            <a:spAutoFit/>
          </a:bodyPr>
          <a:lstStyle/>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&lt;script&gt;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function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employeeSalary</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(...values)</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var Sum=0;</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for(let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i</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in values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Sum+=values[</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i</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return "your Salary of Base, Bonus &amp;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OverTime</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is $" +Sum;</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console.log(</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employeeSalary</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(150,80,25))</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&lt;/script&gt;</a:t>
            </a:r>
          </a:p>
        </p:txBody>
      </p:sp>
    </p:spTree>
    <p:extLst>
      <p:ext uri="{BB962C8B-B14F-4D97-AF65-F5344CB8AC3E}">
        <p14:creationId xmlns:p14="http://schemas.microsoft.com/office/powerpoint/2010/main" val="3847372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pPr algn="just"/>
            <a:r>
              <a:rPr lang="en-US" dirty="0">
                <a:solidFill>
                  <a:schemeClr val="tx1"/>
                </a:solidFill>
              </a:rPr>
              <a:t>Classes</a:t>
            </a:r>
            <a:endParaRPr lang="en-SO" dirty="0">
              <a:solidFill>
                <a:schemeClr val="tx1"/>
              </a:solidFill>
            </a:endParaRPr>
          </a:p>
        </p:txBody>
      </p:sp>
      <p:sp>
        <p:nvSpPr>
          <p:cNvPr id="5" name="TextBox 4">
            <a:extLst>
              <a:ext uri="{FF2B5EF4-FFF2-40B4-BE49-F238E27FC236}">
                <a16:creationId xmlns:a16="http://schemas.microsoft.com/office/drawing/2014/main" id="{D2E62470-CD47-1A8D-C0EB-F9A014D43227}"/>
              </a:ext>
            </a:extLst>
          </p:cNvPr>
          <p:cNvSpPr txBox="1"/>
          <p:nvPr/>
        </p:nvSpPr>
        <p:spPr>
          <a:xfrm>
            <a:off x="271346" y="607800"/>
            <a:ext cx="8340464" cy="5378395"/>
          </a:xfrm>
          <a:prstGeom prst="rect">
            <a:avLst/>
          </a:prstGeom>
          <a:noFill/>
        </p:spPr>
        <p:txBody>
          <a:bodyPr wrap="square">
            <a:spAutoFit/>
          </a:bodyPr>
          <a:lstStyle/>
          <a:p>
            <a:pPr algn="just">
              <a:lnSpc>
                <a:spcPct val="150000"/>
              </a:lnSpc>
            </a:pPr>
            <a:r>
              <a:rPr lang="en-US" sz="1900" dirty="0">
                <a:latin typeface="Arial (Body)"/>
              </a:rPr>
              <a:t>The new version of JavaScript (</a:t>
            </a:r>
            <a:r>
              <a:rPr lang="en-US" sz="1900" dirty="0">
                <a:solidFill>
                  <a:srgbClr val="FF0000"/>
                </a:solidFill>
                <a:latin typeface="Arial (Body)"/>
              </a:rPr>
              <a:t>ES6</a:t>
            </a:r>
            <a:r>
              <a:rPr lang="en-US" sz="1900" dirty="0">
                <a:latin typeface="Arial (Body)"/>
              </a:rPr>
              <a:t>) introduced the use of classes instead of functions. Prior to ES6, there were only classes and, functions which are callable objects. A class in </a:t>
            </a:r>
            <a:r>
              <a:rPr lang="en-US" sz="1900" dirty="0" err="1">
                <a:latin typeface="Arial (Body)"/>
              </a:rPr>
              <a:t>javascript</a:t>
            </a:r>
            <a:r>
              <a:rPr lang="en-US" sz="1900" dirty="0">
                <a:latin typeface="Arial (Body)"/>
              </a:rPr>
              <a:t> is basically a blueprint or template of the object. New objects can be created from a class. </a:t>
            </a:r>
          </a:p>
          <a:p>
            <a:pPr algn="just">
              <a:lnSpc>
                <a:spcPct val="150000"/>
              </a:lnSpc>
            </a:pPr>
            <a:r>
              <a:rPr lang="en-US" sz="1900" dirty="0">
                <a:latin typeface="Arial (Body)"/>
              </a:rPr>
              <a:t>They encapsulate data with code to work on that data. Classes in JS are built on prototypes but also have some syntax and semantics that are not shared with ES5 class-like semantics.</a:t>
            </a:r>
          </a:p>
          <a:p>
            <a:pPr algn="just">
              <a:lnSpc>
                <a:spcPct val="150000"/>
              </a:lnSpc>
            </a:pPr>
            <a:r>
              <a:rPr lang="en-US" sz="1900" dirty="0">
                <a:latin typeface="Arial (Body)"/>
              </a:rPr>
              <a:t>Classes are in fact "</a:t>
            </a:r>
            <a:r>
              <a:rPr lang="en-US" sz="1900" dirty="0">
                <a:solidFill>
                  <a:srgbClr val="FF0000"/>
                </a:solidFill>
                <a:latin typeface="Arial (Body)"/>
              </a:rPr>
              <a:t>special functions</a:t>
            </a:r>
            <a:r>
              <a:rPr lang="en-US" sz="1900" dirty="0">
                <a:latin typeface="Arial (Body)"/>
              </a:rPr>
              <a:t>", and just as you can define function expressions and function declarations, the class syntax has two components: class expressions and class declarations.</a:t>
            </a:r>
          </a:p>
          <a:p>
            <a:pPr algn="just">
              <a:lnSpc>
                <a:spcPct val="150000"/>
              </a:lnSpc>
            </a:pPr>
            <a:endParaRPr lang="en-US" sz="1900" dirty="0">
              <a:latin typeface="Arial (Body)"/>
            </a:endParaRPr>
          </a:p>
          <a:p>
            <a:pPr algn="just"/>
            <a:r>
              <a:rPr lang="en-US" sz="1900" dirty="0">
                <a:latin typeface="Arial (Body)"/>
              </a:rPr>
              <a:t> </a:t>
            </a:r>
          </a:p>
          <a:p>
            <a:endParaRPr lang="en-SO" sz="1100" dirty="0"/>
          </a:p>
        </p:txBody>
      </p:sp>
    </p:spTree>
    <p:extLst>
      <p:ext uri="{BB962C8B-B14F-4D97-AF65-F5344CB8AC3E}">
        <p14:creationId xmlns:p14="http://schemas.microsoft.com/office/powerpoint/2010/main" val="1871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9FC468-FF9D-E240-A731-3AB0E3109A20}"/>
              </a:ext>
            </a:extLst>
          </p:cNvPr>
          <p:cNvSpPr txBox="1"/>
          <p:nvPr/>
        </p:nvSpPr>
        <p:spPr>
          <a:xfrm>
            <a:off x="118947" y="1219344"/>
            <a:ext cx="8117261" cy="3600986"/>
          </a:xfrm>
          <a:prstGeom prst="rect">
            <a:avLst/>
          </a:prstGeom>
          <a:noFill/>
        </p:spPr>
        <p:txBody>
          <a:bodyPr wrap="square" rtlCol="0">
            <a:spAutoFit/>
          </a:bodyPr>
          <a:lstStyle/>
          <a:p>
            <a:pPr algn="just"/>
            <a:r>
              <a:rPr lang="en-US" sz="1800" dirty="0">
                <a:latin typeface="Arial (Body)"/>
              </a:rPr>
              <a:t>The </a:t>
            </a:r>
            <a:r>
              <a:rPr lang="en-US" sz="1800" dirty="0">
                <a:solidFill>
                  <a:srgbClr val="FF0000"/>
                </a:solidFill>
                <a:latin typeface="Arial (Body)"/>
              </a:rPr>
              <a:t>constructor</a:t>
            </a:r>
            <a:r>
              <a:rPr lang="en-US" sz="1800" dirty="0">
                <a:latin typeface="Arial (Body)"/>
              </a:rPr>
              <a:t> is a special method for creating and initializing an object created with a class. There can only be one special method with the name "constructor" in a class. </a:t>
            </a:r>
          </a:p>
          <a:p>
            <a:pPr algn="just"/>
            <a:r>
              <a:rPr lang="en-US" sz="1800" dirty="0">
                <a:latin typeface="Arial (Body)"/>
              </a:rPr>
              <a:t>A </a:t>
            </a:r>
            <a:r>
              <a:rPr lang="en-US" sz="1800" dirty="0" err="1">
                <a:solidFill>
                  <a:srgbClr val="FF0000"/>
                </a:solidFill>
                <a:latin typeface="Arial (Body)"/>
              </a:rPr>
              <a:t>SyntaxError</a:t>
            </a:r>
            <a:r>
              <a:rPr lang="en-US" sz="1800" dirty="0">
                <a:latin typeface="Arial (Body)"/>
              </a:rPr>
              <a:t> will be thrown if the class contains more than one occurrence of a constructor method.</a:t>
            </a:r>
          </a:p>
          <a:p>
            <a:pPr marL="285750" indent="-285750" algn="just">
              <a:buFont typeface="Arial" panose="020B0604020202020204" pitchFamily="34" charset="0"/>
              <a:buChar char="•"/>
            </a:pPr>
            <a:r>
              <a:rPr lang="en-US" sz="1800" dirty="0">
                <a:latin typeface="Arial (Body)"/>
              </a:rPr>
              <a:t>It creates a new blank object.</a:t>
            </a:r>
          </a:p>
          <a:p>
            <a:pPr marL="285750" indent="-285750" algn="just">
              <a:buFont typeface="Arial" panose="020B0604020202020204" pitchFamily="34" charset="0"/>
              <a:buChar char="•"/>
            </a:pPr>
            <a:r>
              <a:rPr lang="en-US" sz="1800" dirty="0">
                <a:latin typeface="Arial (Body)"/>
              </a:rPr>
              <a:t>It makes this to point to this newly created object inside the constructor function</a:t>
            </a:r>
          </a:p>
          <a:p>
            <a:pPr marL="285750" indent="-285750" algn="just">
              <a:buFont typeface="Arial" panose="020B0604020202020204" pitchFamily="34" charset="0"/>
              <a:buChar char="•"/>
            </a:pPr>
            <a:r>
              <a:rPr lang="en-US" sz="1800" dirty="0">
                <a:latin typeface="Arial (Body)"/>
              </a:rPr>
              <a:t>It sets the prototype of the newly created object to the constructor function's prototype.</a:t>
            </a:r>
          </a:p>
          <a:p>
            <a:pPr marL="285750" indent="-285750" algn="just">
              <a:buFont typeface="Arial" panose="020B0604020202020204" pitchFamily="34" charset="0"/>
              <a:buChar char="•"/>
            </a:pPr>
            <a:r>
              <a:rPr lang="en-US" sz="1800" dirty="0">
                <a:latin typeface="Arial (Body)"/>
              </a:rPr>
              <a:t>It makes the constructor function return the newly created object IF it is not returning anything.</a:t>
            </a:r>
          </a:p>
          <a:p>
            <a:endParaRPr lang="en-SO" sz="1200" dirty="0"/>
          </a:p>
        </p:txBody>
      </p:sp>
      <p:sp>
        <p:nvSpPr>
          <p:cNvPr id="8" name="Title 1">
            <a:extLst>
              <a:ext uri="{FF2B5EF4-FFF2-40B4-BE49-F238E27FC236}">
                <a16:creationId xmlns:a16="http://schemas.microsoft.com/office/drawing/2014/main" id="{978F877C-4EBC-8E78-8B34-BECEA6DB5CB2}"/>
              </a:ext>
            </a:extLst>
          </p:cNvPr>
          <p:cNvSpPr>
            <a:spLocks noGrp="1"/>
          </p:cNvSpPr>
          <p:nvPr>
            <p:ph type="title"/>
          </p:nvPr>
        </p:nvSpPr>
        <p:spPr>
          <a:xfrm>
            <a:off x="430647" y="0"/>
            <a:ext cx="8520600" cy="607800"/>
          </a:xfrm>
        </p:spPr>
        <p:txBody>
          <a:bodyPr/>
          <a:lstStyle/>
          <a:p>
            <a:pPr algn="just"/>
            <a:r>
              <a:rPr lang="en-US" dirty="0" err="1">
                <a:solidFill>
                  <a:schemeClr val="tx1"/>
                </a:solidFill>
              </a:rPr>
              <a:t>Cont</a:t>
            </a:r>
            <a:r>
              <a:rPr lang="en-US" dirty="0">
                <a:solidFill>
                  <a:schemeClr val="tx1"/>
                </a:solidFill>
              </a:rPr>
              <a:t>…..</a:t>
            </a:r>
            <a:endParaRPr lang="en-SO" dirty="0">
              <a:solidFill>
                <a:schemeClr val="tx1"/>
              </a:solidFill>
            </a:endParaRPr>
          </a:p>
        </p:txBody>
      </p:sp>
      <p:sp>
        <p:nvSpPr>
          <p:cNvPr id="10" name="TextBox 9">
            <a:extLst>
              <a:ext uri="{FF2B5EF4-FFF2-40B4-BE49-F238E27FC236}">
                <a16:creationId xmlns:a16="http://schemas.microsoft.com/office/drawing/2014/main" id="{E777FA44-6958-0CC6-9A05-E5EC59832620}"/>
              </a:ext>
            </a:extLst>
          </p:cNvPr>
          <p:cNvSpPr txBox="1"/>
          <p:nvPr/>
        </p:nvSpPr>
        <p:spPr>
          <a:xfrm>
            <a:off x="118947" y="713517"/>
            <a:ext cx="4572000" cy="400110"/>
          </a:xfrm>
          <a:prstGeom prst="rect">
            <a:avLst/>
          </a:prstGeom>
          <a:noFill/>
        </p:spPr>
        <p:txBody>
          <a:bodyPr wrap="square">
            <a:spAutoFit/>
          </a:bodyPr>
          <a:lstStyle/>
          <a:p>
            <a:r>
              <a:rPr lang="en-US" sz="2000" b="1" dirty="0">
                <a:solidFill>
                  <a:schemeClr val="bg2"/>
                </a:solidFill>
              </a:rPr>
              <a:t>Constructor</a:t>
            </a:r>
          </a:p>
        </p:txBody>
      </p:sp>
    </p:spTree>
    <p:extLst>
      <p:ext uri="{BB962C8B-B14F-4D97-AF65-F5344CB8AC3E}">
        <p14:creationId xmlns:p14="http://schemas.microsoft.com/office/powerpoint/2010/main" val="1124951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pPr algn="just"/>
            <a:r>
              <a:rPr lang="en-US" dirty="0" err="1">
                <a:solidFill>
                  <a:schemeClr val="tx1"/>
                </a:solidFill>
              </a:rPr>
              <a:t>Contu</a:t>
            </a:r>
            <a:r>
              <a:rPr lang="en-US" dirty="0">
                <a:solidFill>
                  <a:schemeClr val="tx1"/>
                </a:solidFill>
              </a:rPr>
              <a:t>……..</a:t>
            </a:r>
            <a:endParaRPr lang="en-SO" dirty="0">
              <a:solidFill>
                <a:schemeClr val="tx1"/>
              </a:solidFill>
            </a:endParaRPr>
          </a:p>
        </p:txBody>
      </p:sp>
      <p:pic>
        <p:nvPicPr>
          <p:cNvPr id="4" name="Picture 3">
            <a:extLst>
              <a:ext uri="{FF2B5EF4-FFF2-40B4-BE49-F238E27FC236}">
                <a16:creationId xmlns:a16="http://schemas.microsoft.com/office/drawing/2014/main" id="{78287CDB-0A6D-CBEB-4BB5-9FC125B70BCB}"/>
              </a:ext>
            </a:extLst>
          </p:cNvPr>
          <p:cNvPicPr>
            <a:picLocks noChangeAspect="1"/>
          </p:cNvPicPr>
          <p:nvPr/>
        </p:nvPicPr>
        <p:blipFill>
          <a:blip r:embed="rId2"/>
          <a:stretch>
            <a:fillRect/>
          </a:stretch>
        </p:blipFill>
        <p:spPr>
          <a:xfrm>
            <a:off x="228600" y="910218"/>
            <a:ext cx="4343400" cy="2743200"/>
          </a:xfrm>
          <a:prstGeom prst="rect">
            <a:avLst/>
          </a:prstGeom>
        </p:spPr>
      </p:pic>
      <p:sp>
        <p:nvSpPr>
          <p:cNvPr id="7" name="TextBox 6">
            <a:extLst>
              <a:ext uri="{FF2B5EF4-FFF2-40B4-BE49-F238E27FC236}">
                <a16:creationId xmlns:a16="http://schemas.microsoft.com/office/drawing/2014/main" id="{4C201A2A-0DE5-0FDE-03D6-54BBE7EA1F11}"/>
              </a:ext>
            </a:extLst>
          </p:cNvPr>
          <p:cNvSpPr txBox="1"/>
          <p:nvPr/>
        </p:nvSpPr>
        <p:spPr>
          <a:xfrm>
            <a:off x="430647" y="605121"/>
            <a:ext cx="4572000" cy="307777"/>
          </a:xfrm>
          <a:prstGeom prst="rect">
            <a:avLst/>
          </a:prstGeom>
          <a:noFill/>
        </p:spPr>
        <p:txBody>
          <a:bodyPr wrap="square">
            <a:spAutoFit/>
          </a:bodyPr>
          <a:lstStyle/>
          <a:p>
            <a:r>
              <a:rPr lang="en-US" sz="1400" i="1" dirty="0">
                <a:latin typeface="Arial (Body)"/>
              </a:rPr>
              <a:t>Generic Syntax</a:t>
            </a:r>
            <a:endParaRPr lang="en-US" i="1" dirty="0"/>
          </a:p>
        </p:txBody>
      </p:sp>
      <p:sp>
        <p:nvSpPr>
          <p:cNvPr id="9" name="TextBox 8">
            <a:extLst>
              <a:ext uri="{FF2B5EF4-FFF2-40B4-BE49-F238E27FC236}">
                <a16:creationId xmlns:a16="http://schemas.microsoft.com/office/drawing/2014/main" id="{F7DA160A-61F5-B62E-A702-F89CA7572253}"/>
              </a:ext>
            </a:extLst>
          </p:cNvPr>
          <p:cNvSpPr txBox="1"/>
          <p:nvPr/>
        </p:nvSpPr>
        <p:spPr>
          <a:xfrm>
            <a:off x="228599" y="3734464"/>
            <a:ext cx="8722647" cy="969496"/>
          </a:xfrm>
          <a:prstGeom prst="rect">
            <a:avLst/>
          </a:prstGeom>
          <a:noFill/>
        </p:spPr>
        <p:txBody>
          <a:bodyPr wrap="square">
            <a:spAutoFit/>
          </a:bodyPr>
          <a:lstStyle/>
          <a:p>
            <a:pPr algn="just"/>
            <a:r>
              <a:rPr lang="en-US" sz="1900" dirty="0">
                <a:solidFill>
                  <a:srgbClr val="FF0000"/>
                </a:solidFill>
                <a:latin typeface="Arial (Body)"/>
              </a:rPr>
              <a:t>Classes</a:t>
            </a:r>
            <a:r>
              <a:rPr lang="en-US" sz="1900" dirty="0">
                <a:latin typeface="Arial (Body)"/>
              </a:rPr>
              <a:t> are similar to functions. Here, a class keyword is used instead of a function keyword. Unlike functions classes in JavaScript are not hoisted. The </a:t>
            </a:r>
            <a:r>
              <a:rPr lang="en-US" sz="1900" dirty="0">
                <a:solidFill>
                  <a:srgbClr val="FF0000"/>
                </a:solidFill>
                <a:latin typeface="Arial (Body)"/>
              </a:rPr>
              <a:t>constructor</a:t>
            </a:r>
            <a:r>
              <a:rPr lang="en-US" sz="1900" dirty="0">
                <a:latin typeface="Arial (Body)"/>
              </a:rPr>
              <a:t> method is used to </a:t>
            </a:r>
            <a:r>
              <a:rPr lang="en-US" sz="1900" dirty="0">
                <a:solidFill>
                  <a:srgbClr val="FF0000"/>
                </a:solidFill>
                <a:latin typeface="Arial (Body)"/>
              </a:rPr>
              <a:t>initialize</a:t>
            </a:r>
            <a:r>
              <a:rPr lang="en-US" sz="1900" dirty="0">
                <a:latin typeface="Arial (Body)"/>
              </a:rPr>
              <a:t>. The class name is user-defined.</a:t>
            </a:r>
          </a:p>
        </p:txBody>
      </p:sp>
    </p:spTree>
    <p:extLst>
      <p:ext uri="{BB962C8B-B14F-4D97-AF65-F5344CB8AC3E}">
        <p14:creationId xmlns:p14="http://schemas.microsoft.com/office/powerpoint/2010/main" val="3532839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5977587" cy="607800"/>
          </a:xfrm>
        </p:spPr>
        <p:txBody>
          <a:bodyPr/>
          <a:lstStyle/>
          <a:p>
            <a:r>
              <a:rPr lang="en-US" altLang="en-US" sz="3200" dirty="0">
                <a:latin typeface="+mj-lt"/>
                <a:ea typeface="+mj-ea"/>
                <a:cs typeface="Arial"/>
              </a:rPr>
              <a:t>Practice 1.7</a:t>
            </a:r>
            <a:endParaRPr lang="en-SO" dirty="0">
              <a:solidFill>
                <a:schemeClr val="tx1"/>
              </a:solidFill>
              <a:latin typeface="+mj-lt"/>
            </a:endParaRPr>
          </a:p>
        </p:txBody>
      </p:sp>
      <p:sp>
        <p:nvSpPr>
          <p:cNvPr id="5" name="TextBox 4">
            <a:extLst>
              <a:ext uri="{FF2B5EF4-FFF2-40B4-BE49-F238E27FC236}">
                <a16:creationId xmlns:a16="http://schemas.microsoft.com/office/drawing/2014/main" id="{C9971333-7485-9CE8-BDDC-76D01377F97F}"/>
              </a:ext>
            </a:extLst>
          </p:cNvPr>
          <p:cNvSpPr txBox="1"/>
          <p:nvPr/>
        </p:nvSpPr>
        <p:spPr>
          <a:xfrm>
            <a:off x="107795" y="538095"/>
            <a:ext cx="8739373"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9" name="TextBox 8">
            <a:extLst>
              <a:ext uri="{FF2B5EF4-FFF2-40B4-BE49-F238E27FC236}">
                <a16:creationId xmlns:a16="http://schemas.microsoft.com/office/drawing/2014/main" id="{3DBE6D64-392E-8521-A6FA-CB56A6D40014}"/>
              </a:ext>
            </a:extLst>
          </p:cNvPr>
          <p:cNvSpPr txBox="1"/>
          <p:nvPr/>
        </p:nvSpPr>
        <p:spPr>
          <a:xfrm>
            <a:off x="-24161" y="607800"/>
            <a:ext cx="9192322" cy="4185761"/>
          </a:xfrm>
          <a:prstGeom prst="rect">
            <a:avLst/>
          </a:prstGeom>
          <a:noFill/>
        </p:spPr>
        <p:txBody>
          <a:bodyPr wrap="square">
            <a:spAutoFit/>
          </a:bodyPr>
          <a:lstStyle/>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&lt;script&gt;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function show()</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let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customerAcc</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document.getElementById</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txtacc</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").value;</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let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customerBalance</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document.getElementById</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txtbalance</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").value;</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let Acc=new Account(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customerAcc,customerBalance</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document.getElementById</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lblaccount</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innerHTML</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="Your Account is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customerAcc</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document.getElementById</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lblbalance</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innerHTML</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="Your Balance is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customerBalance</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class Account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constructor(</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Acc,Balance</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this.Acc</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=Acc;</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this.Balance</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=Balance;</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&lt;/script&gt;</a:t>
            </a:r>
          </a:p>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pic>
        <p:nvPicPr>
          <p:cNvPr id="7" name="Picture 6">
            <a:extLst>
              <a:ext uri="{FF2B5EF4-FFF2-40B4-BE49-F238E27FC236}">
                <a16:creationId xmlns:a16="http://schemas.microsoft.com/office/drawing/2014/main" id="{D8742727-5905-B851-8136-704B384D21D4}"/>
              </a:ext>
            </a:extLst>
          </p:cNvPr>
          <p:cNvPicPr>
            <a:picLocks noChangeAspect="1"/>
          </p:cNvPicPr>
          <p:nvPr/>
        </p:nvPicPr>
        <p:blipFill>
          <a:blip r:embed="rId2"/>
          <a:stretch>
            <a:fillRect/>
          </a:stretch>
        </p:blipFill>
        <p:spPr>
          <a:xfrm>
            <a:off x="3996782" y="3878707"/>
            <a:ext cx="4574789" cy="107438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Speech Bubble: Oval 9">
            <a:extLst>
              <a:ext uri="{FF2B5EF4-FFF2-40B4-BE49-F238E27FC236}">
                <a16:creationId xmlns:a16="http://schemas.microsoft.com/office/drawing/2014/main" id="{D25EDB3A-4E80-2B3C-24EC-526789B5FCAB}"/>
              </a:ext>
            </a:extLst>
          </p:cNvPr>
          <p:cNvSpPr/>
          <p:nvPr/>
        </p:nvSpPr>
        <p:spPr>
          <a:xfrm>
            <a:off x="5032916" y="2341208"/>
            <a:ext cx="1531435" cy="957016"/>
          </a:xfrm>
          <a:prstGeom prst="wedgeEllipseCallout">
            <a:avLst>
              <a:gd name="adj1" fmla="val 65409"/>
              <a:gd name="adj2" fmla="val 10768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Test section in html</a:t>
            </a:r>
          </a:p>
        </p:txBody>
      </p:sp>
    </p:spTree>
    <p:extLst>
      <p:ext uri="{BB962C8B-B14F-4D97-AF65-F5344CB8AC3E}">
        <p14:creationId xmlns:p14="http://schemas.microsoft.com/office/powerpoint/2010/main" val="272897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pPr algn="just"/>
            <a:r>
              <a:rPr lang="en-US" dirty="0">
                <a:solidFill>
                  <a:schemeClr val="tx1"/>
                </a:solidFill>
              </a:rPr>
              <a:t>Objects</a:t>
            </a:r>
            <a:endParaRPr lang="en-SO" dirty="0">
              <a:solidFill>
                <a:schemeClr val="tx1"/>
              </a:solidFill>
            </a:endParaRPr>
          </a:p>
        </p:txBody>
      </p:sp>
      <p:sp>
        <p:nvSpPr>
          <p:cNvPr id="4" name="TextBox 3">
            <a:extLst>
              <a:ext uri="{FF2B5EF4-FFF2-40B4-BE49-F238E27FC236}">
                <a16:creationId xmlns:a16="http://schemas.microsoft.com/office/drawing/2014/main" id="{D56B3E6A-31B3-8BF9-E7F4-FD25FD0306FC}"/>
              </a:ext>
            </a:extLst>
          </p:cNvPr>
          <p:cNvSpPr txBox="1"/>
          <p:nvPr/>
        </p:nvSpPr>
        <p:spPr>
          <a:xfrm>
            <a:off x="367990" y="664307"/>
            <a:ext cx="8456341" cy="1345048"/>
          </a:xfrm>
          <a:prstGeom prst="rect">
            <a:avLst/>
          </a:prstGeom>
          <a:noFill/>
        </p:spPr>
        <p:txBody>
          <a:bodyPr wrap="square">
            <a:spAutoFit/>
          </a:bodyPr>
          <a:lstStyle/>
          <a:p>
            <a:pPr algn="just">
              <a:lnSpc>
                <a:spcPct val="150000"/>
              </a:lnSpc>
            </a:pPr>
            <a:r>
              <a:rPr lang="en-US" dirty="0">
                <a:solidFill>
                  <a:srgbClr val="FF0000"/>
                </a:solidFill>
              </a:rPr>
              <a:t>Objects</a:t>
            </a:r>
            <a:r>
              <a:rPr lang="en-US" dirty="0"/>
              <a:t>, in JavaScript, are the most important data type and form the building blocks for modern JavaScript. These objects are quite different from JavaScript’s primitive data types (Number, String, Boolean, null, undefined, and symbol) in the sense that these primitive data types all store a single value each (depending on their types).</a:t>
            </a:r>
          </a:p>
        </p:txBody>
      </p:sp>
      <p:pic>
        <p:nvPicPr>
          <p:cNvPr id="7" name="Picture 6">
            <a:extLst>
              <a:ext uri="{FF2B5EF4-FFF2-40B4-BE49-F238E27FC236}">
                <a16:creationId xmlns:a16="http://schemas.microsoft.com/office/drawing/2014/main" id="{C95FB54A-7202-595E-90C3-5CB440E0CE1F}"/>
              </a:ext>
            </a:extLst>
          </p:cNvPr>
          <p:cNvPicPr>
            <a:picLocks noChangeAspect="1"/>
          </p:cNvPicPr>
          <p:nvPr/>
        </p:nvPicPr>
        <p:blipFill rotWithShape="1">
          <a:blip r:embed="rId2"/>
          <a:srcRect t="1890"/>
          <a:stretch/>
        </p:blipFill>
        <p:spPr>
          <a:xfrm>
            <a:off x="156117" y="2065862"/>
            <a:ext cx="7962900" cy="293434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11402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3200" dirty="0">
                <a:latin typeface="+mj-lt"/>
                <a:ea typeface="+mj-ea"/>
                <a:cs typeface="Arial"/>
              </a:rPr>
              <a:t>Practice 1.8</a:t>
            </a:r>
            <a:endParaRPr lang="en-SO" dirty="0">
              <a:solidFill>
                <a:schemeClr val="tx1"/>
              </a:solidFill>
              <a:latin typeface="+mj-lt"/>
            </a:endParaRPr>
          </a:p>
        </p:txBody>
      </p:sp>
      <p:sp>
        <p:nvSpPr>
          <p:cNvPr id="5" name="TextBox 4">
            <a:extLst>
              <a:ext uri="{FF2B5EF4-FFF2-40B4-BE49-F238E27FC236}">
                <a16:creationId xmlns:a16="http://schemas.microsoft.com/office/drawing/2014/main" id="{C9971333-7485-9CE8-BDDC-76D01377F97F}"/>
              </a:ext>
            </a:extLst>
          </p:cNvPr>
          <p:cNvSpPr txBox="1"/>
          <p:nvPr/>
        </p:nvSpPr>
        <p:spPr>
          <a:xfrm>
            <a:off x="107795" y="538095"/>
            <a:ext cx="8739373"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9" name="TextBox 8">
            <a:extLst>
              <a:ext uri="{FF2B5EF4-FFF2-40B4-BE49-F238E27FC236}">
                <a16:creationId xmlns:a16="http://schemas.microsoft.com/office/drawing/2014/main" id="{3DBE6D64-392E-8521-A6FA-CB56A6D40014}"/>
              </a:ext>
            </a:extLst>
          </p:cNvPr>
          <p:cNvSpPr txBox="1"/>
          <p:nvPr/>
        </p:nvSpPr>
        <p:spPr>
          <a:xfrm>
            <a:off x="-24161" y="607800"/>
            <a:ext cx="9192322"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pic>
        <p:nvPicPr>
          <p:cNvPr id="8" name="Picture 7">
            <a:extLst>
              <a:ext uri="{FF2B5EF4-FFF2-40B4-BE49-F238E27FC236}">
                <a16:creationId xmlns:a16="http://schemas.microsoft.com/office/drawing/2014/main" id="{C4221757-7FC3-244F-42BF-F3A8ECD3635E}"/>
              </a:ext>
            </a:extLst>
          </p:cNvPr>
          <p:cNvPicPr>
            <a:picLocks noChangeAspect="1"/>
          </p:cNvPicPr>
          <p:nvPr/>
        </p:nvPicPr>
        <p:blipFill>
          <a:blip r:embed="rId2"/>
          <a:stretch>
            <a:fillRect/>
          </a:stretch>
        </p:blipFill>
        <p:spPr>
          <a:xfrm>
            <a:off x="44604" y="3796504"/>
            <a:ext cx="8973192" cy="5011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2" name="TextBox 11">
            <a:extLst>
              <a:ext uri="{FF2B5EF4-FFF2-40B4-BE49-F238E27FC236}">
                <a16:creationId xmlns:a16="http://schemas.microsoft.com/office/drawing/2014/main" id="{8323D534-EAE1-1A4C-B366-6C6430D49D6B}"/>
              </a:ext>
            </a:extLst>
          </p:cNvPr>
          <p:cNvSpPr txBox="1"/>
          <p:nvPr/>
        </p:nvSpPr>
        <p:spPr>
          <a:xfrm>
            <a:off x="296832" y="677505"/>
            <a:ext cx="4612886" cy="2031325"/>
          </a:xfrm>
          <a:prstGeom prst="rect">
            <a:avLst/>
          </a:prstGeom>
          <a:noFill/>
        </p:spPr>
        <p:txBody>
          <a:bodyPr wrap="square">
            <a:spAutoFit/>
          </a:bodyPr>
          <a:lstStyle/>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&lt;script&gt;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let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StudentInfo</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Id:"CA00023",</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Name:"Mohamed</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Ali",</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Sem:"</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semeter</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six",</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ClassName:"CA201"</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console.log(</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StudentInfo</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&lt;/script&gt;</a:t>
            </a:r>
          </a:p>
        </p:txBody>
      </p:sp>
      <p:sp>
        <p:nvSpPr>
          <p:cNvPr id="14" name="TextBox 13">
            <a:extLst>
              <a:ext uri="{FF2B5EF4-FFF2-40B4-BE49-F238E27FC236}">
                <a16:creationId xmlns:a16="http://schemas.microsoft.com/office/drawing/2014/main" id="{EDC266AF-8BE6-67EA-A62B-93F171928D5A}"/>
              </a:ext>
            </a:extLst>
          </p:cNvPr>
          <p:cNvSpPr txBox="1"/>
          <p:nvPr/>
        </p:nvSpPr>
        <p:spPr>
          <a:xfrm>
            <a:off x="430647" y="3224059"/>
            <a:ext cx="4612886" cy="307777"/>
          </a:xfrm>
          <a:prstGeom prst="rect">
            <a:avLst/>
          </a:prstGeom>
          <a:noFill/>
        </p:spPr>
        <p:txBody>
          <a:bodyPr wrap="square">
            <a:spAutoFit/>
          </a:bodyPr>
          <a:lstStyle/>
          <a:p>
            <a:r>
              <a:rPr lang="en-US" sz="1400" dirty="0">
                <a:solidFill>
                  <a:srgbClr val="FF0000"/>
                </a:solidFill>
                <a:latin typeface="Arial (Body)"/>
              </a:rPr>
              <a:t>Output</a:t>
            </a:r>
            <a:endParaRPr lang="en-US" dirty="0">
              <a:solidFill>
                <a:srgbClr val="FF0000"/>
              </a:solidFill>
            </a:endParaRPr>
          </a:p>
        </p:txBody>
      </p:sp>
    </p:spTree>
    <p:extLst>
      <p:ext uri="{BB962C8B-B14F-4D97-AF65-F5344CB8AC3E}">
        <p14:creationId xmlns:p14="http://schemas.microsoft.com/office/powerpoint/2010/main" val="3855372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p:txBody>
          <a:bodyPr/>
          <a:lstStyle/>
          <a:p>
            <a:r>
              <a:rPr lang="en-US" sz="3200" b="1" i="0" dirty="0" err="1">
                <a:solidFill>
                  <a:schemeClr val="tx1"/>
                </a:solidFill>
                <a:effectLst/>
                <a:latin typeface="TypoPRO Open Sans"/>
              </a:rPr>
              <a:t>Destructuring</a:t>
            </a:r>
            <a:r>
              <a:rPr lang="en-US" sz="3200" b="1" i="0" dirty="0">
                <a:solidFill>
                  <a:schemeClr val="tx1"/>
                </a:solidFill>
                <a:effectLst/>
                <a:latin typeface="TypoPRO Open Sans"/>
              </a:rPr>
              <a:t> assignment</a:t>
            </a:r>
          </a:p>
        </p:txBody>
      </p:sp>
      <p:sp>
        <p:nvSpPr>
          <p:cNvPr id="5" name="TextBox 4">
            <a:extLst>
              <a:ext uri="{FF2B5EF4-FFF2-40B4-BE49-F238E27FC236}">
                <a16:creationId xmlns:a16="http://schemas.microsoft.com/office/drawing/2014/main" id="{8EDF79C3-1B04-05B5-92F1-9025662EF73E}"/>
              </a:ext>
            </a:extLst>
          </p:cNvPr>
          <p:cNvSpPr txBox="1"/>
          <p:nvPr/>
        </p:nvSpPr>
        <p:spPr>
          <a:xfrm>
            <a:off x="311699" y="1017800"/>
            <a:ext cx="8594407" cy="2985433"/>
          </a:xfrm>
          <a:prstGeom prst="rect">
            <a:avLst/>
          </a:prstGeom>
          <a:noFill/>
        </p:spPr>
        <p:txBody>
          <a:bodyPr wrap="square">
            <a:spAutoFit/>
          </a:bodyPr>
          <a:lstStyle/>
          <a:p>
            <a:pPr algn="just">
              <a:lnSpc>
                <a:spcPct val="150000"/>
              </a:lnSpc>
            </a:pPr>
            <a:r>
              <a:rPr lang="en-US" sz="2000" dirty="0" err="1">
                <a:solidFill>
                  <a:srgbClr val="FF0000"/>
                </a:solidFill>
                <a:latin typeface="arial" panose="020B0604020202020204" pitchFamily="34" charset="0"/>
              </a:rPr>
              <a:t>Destructuring</a:t>
            </a:r>
            <a:r>
              <a:rPr lang="en-US" sz="2000" dirty="0">
                <a:solidFill>
                  <a:srgbClr val="FF0000"/>
                </a:solidFill>
                <a:latin typeface="arial" panose="020B0604020202020204" pitchFamily="34" charset="0"/>
              </a:rPr>
              <a:t> Assignment </a:t>
            </a:r>
            <a:r>
              <a:rPr lang="en-US" sz="2000" dirty="0">
                <a:solidFill>
                  <a:srgbClr val="1B1B1B"/>
                </a:solidFill>
                <a:latin typeface="arial" panose="020B0604020202020204" pitchFamily="34" charset="0"/>
              </a:rPr>
              <a:t>is a JavaScript expression that allows to unpack values from arrays, or properties from objects, into distinct variables data can be extracted from arrays, objects, nested objects and assigning to variables. In </a:t>
            </a:r>
            <a:r>
              <a:rPr lang="en-US" sz="2000" dirty="0" err="1">
                <a:solidFill>
                  <a:srgbClr val="1B1B1B"/>
                </a:solidFill>
                <a:latin typeface="arial" panose="020B0604020202020204" pitchFamily="34" charset="0"/>
              </a:rPr>
              <a:t>Destructuring</a:t>
            </a:r>
            <a:r>
              <a:rPr lang="en-US" sz="2000" dirty="0">
                <a:solidFill>
                  <a:srgbClr val="1B1B1B"/>
                </a:solidFill>
                <a:latin typeface="arial" panose="020B0604020202020204" pitchFamily="34" charset="0"/>
              </a:rPr>
              <a:t> Assignment on the left-hand side defined that which value should be unpacked from the sourced variable.</a:t>
            </a:r>
            <a:endParaRPr lang="en-SO" sz="2000" dirty="0">
              <a:solidFill>
                <a:srgbClr val="1B1B1B"/>
              </a:solidFill>
              <a:latin typeface="arial" panose="020B0604020202020204" pitchFamily="34" charset="0"/>
            </a:endParaRPr>
          </a:p>
          <a:p>
            <a:pPr algn="just"/>
            <a:endParaRPr lang="en-US" sz="1900" dirty="0">
              <a:latin typeface="Arial (Body)"/>
            </a:endParaRPr>
          </a:p>
          <a:p>
            <a:pPr algn="just"/>
            <a:endParaRPr lang="en-US" sz="1900" dirty="0">
              <a:latin typeface="Arial (Body)"/>
            </a:endParaRPr>
          </a:p>
        </p:txBody>
      </p:sp>
    </p:spTree>
    <p:extLst>
      <p:ext uri="{BB962C8B-B14F-4D97-AF65-F5344CB8AC3E}">
        <p14:creationId xmlns:p14="http://schemas.microsoft.com/office/powerpoint/2010/main" val="4277388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2800" dirty="0">
                <a:latin typeface="+mj-lt"/>
                <a:ea typeface="+mj-ea"/>
                <a:cs typeface="Arial"/>
              </a:rPr>
              <a:t>Practice 1.9</a:t>
            </a:r>
            <a:endParaRPr lang="en-SO" dirty="0">
              <a:solidFill>
                <a:schemeClr val="tx1"/>
              </a:solidFill>
              <a:latin typeface="+mj-lt"/>
            </a:endParaRPr>
          </a:p>
        </p:txBody>
      </p:sp>
      <p:sp>
        <p:nvSpPr>
          <p:cNvPr id="5" name="TextBox 4">
            <a:extLst>
              <a:ext uri="{FF2B5EF4-FFF2-40B4-BE49-F238E27FC236}">
                <a16:creationId xmlns:a16="http://schemas.microsoft.com/office/drawing/2014/main" id="{C9971333-7485-9CE8-BDDC-76D01377F97F}"/>
              </a:ext>
            </a:extLst>
          </p:cNvPr>
          <p:cNvSpPr txBox="1"/>
          <p:nvPr/>
        </p:nvSpPr>
        <p:spPr>
          <a:xfrm>
            <a:off x="107795" y="538095"/>
            <a:ext cx="8739373"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9" name="TextBox 8">
            <a:extLst>
              <a:ext uri="{FF2B5EF4-FFF2-40B4-BE49-F238E27FC236}">
                <a16:creationId xmlns:a16="http://schemas.microsoft.com/office/drawing/2014/main" id="{3DBE6D64-392E-8521-A6FA-CB56A6D40014}"/>
              </a:ext>
            </a:extLst>
          </p:cNvPr>
          <p:cNvSpPr txBox="1"/>
          <p:nvPr/>
        </p:nvSpPr>
        <p:spPr>
          <a:xfrm>
            <a:off x="-24161" y="607800"/>
            <a:ext cx="9192322"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12" name="TextBox 11">
            <a:extLst>
              <a:ext uri="{FF2B5EF4-FFF2-40B4-BE49-F238E27FC236}">
                <a16:creationId xmlns:a16="http://schemas.microsoft.com/office/drawing/2014/main" id="{8323D534-EAE1-1A4C-B366-6C6430D49D6B}"/>
              </a:ext>
            </a:extLst>
          </p:cNvPr>
          <p:cNvSpPr txBox="1"/>
          <p:nvPr/>
        </p:nvSpPr>
        <p:spPr>
          <a:xfrm>
            <a:off x="296832" y="677505"/>
            <a:ext cx="8550336" cy="2677656"/>
          </a:xfrm>
          <a:prstGeom prst="rect">
            <a:avLst/>
          </a:prstGeom>
          <a:noFill/>
        </p:spPr>
        <p:txBody>
          <a:bodyPr wrap="square">
            <a:spAutoFit/>
          </a:bodyPr>
          <a:lstStyle/>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&lt;script&gt;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let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StudentInfo</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Id:"CA00023",</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Name:"Mohamed</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Ali",</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Sem:"</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semeter</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six",</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ClassName:"CA201"</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let{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Id,Name,Sem,ClassName</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StudentInfo</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console.log("Name: ",Name)</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&lt;/script&gt;</a:t>
            </a:r>
          </a:p>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14" name="TextBox 13">
            <a:extLst>
              <a:ext uri="{FF2B5EF4-FFF2-40B4-BE49-F238E27FC236}">
                <a16:creationId xmlns:a16="http://schemas.microsoft.com/office/drawing/2014/main" id="{EDC266AF-8BE6-67EA-A62B-93F171928D5A}"/>
              </a:ext>
            </a:extLst>
          </p:cNvPr>
          <p:cNvSpPr txBox="1"/>
          <p:nvPr/>
        </p:nvSpPr>
        <p:spPr>
          <a:xfrm>
            <a:off x="430647" y="3224059"/>
            <a:ext cx="4612886" cy="307777"/>
          </a:xfrm>
          <a:prstGeom prst="rect">
            <a:avLst/>
          </a:prstGeom>
          <a:noFill/>
        </p:spPr>
        <p:txBody>
          <a:bodyPr wrap="square">
            <a:spAutoFit/>
          </a:bodyPr>
          <a:lstStyle/>
          <a:p>
            <a:r>
              <a:rPr lang="en-US" sz="1400" dirty="0">
                <a:solidFill>
                  <a:srgbClr val="FF0000"/>
                </a:solidFill>
                <a:latin typeface="Arial (Body)"/>
              </a:rPr>
              <a:t>Output</a:t>
            </a:r>
            <a:endParaRPr lang="en-US" dirty="0">
              <a:solidFill>
                <a:srgbClr val="FF0000"/>
              </a:solidFill>
            </a:endParaRPr>
          </a:p>
        </p:txBody>
      </p:sp>
      <p:pic>
        <p:nvPicPr>
          <p:cNvPr id="7" name="Picture 6">
            <a:extLst>
              <a:ext uri="{FF2B5EF4-FFF2-40B4-BE49-F238E27FC236}">
                <a16:creationId xmlns:a16="http://schemas.microsoft.com/office/drawing/2014/main" id="{53D38FFA-DAA5-0979-70C1-9FE8E0B62382}"/>
              </a:ext>
            </a:extLst>
          </p:cNvPr>
          <p:cNvPicPr>
            <a:picLocks noChangeAspect="1"/>
          </p:cNvPicPr>
          <p:nvPr/>
        </p:nvPicPr>
        <p:blipFill>
          <a:blip r:embed="rId2"/>
          <a:stretch>
            <a:fillRect/>
          </a:stretch>
        </p:blipFill>
        <p:spPr>
          <a:xfrm>
            <a:off x="1046704" y="3979591"/>
            <a:ext cx="3705225" cy="381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70942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311699" y="226152"/>
            <a:ext cx="8520600" cy="607800"/>
          </a:xfrm>
        </p:spPr>
        <p:txBody>
          <a:bodyPr/>
          <a:lstStyle/>
          <a:p>
            <a:r>
              <a:rPr lang="en-US" sz="3200" b="1" i="0" dirty="0">
                <a:solidFill>
                  <a:schemeClr val="tx1"/>
                </a:solidFill>
                <a:effectLst/>
                <a:latin typeface="TypoPRO Open Sans"/>
              </a:rPr>
              <a:t>Template Literals</a:t>
            </a:r>
          </a:p>
        </p:txBody>
      </p:sp>
      <p:sp>
        <p:nvSpPr>
          <p:cNvPr id="5" name="TextBox 4">
            <a:extLst>
              <a:ext uri="{FF2B5EF4-FFF2-40B4-BE49-F238E27FC236}">
                <a16:creationId xmlns:a16="http://schemas.microsoft.com/office/drawing/2014/main" id="{8EDF79C3-1B04-05B5-92F1-9025662EF73E}"/>
              </a:ext>
            </a:extLst>
          </p:cNvPr>
          <p:cNvSpPr txBox="1"/>
          <p:nvPr/>
        </p:nvSpPr>
        <p:spPr>
          <a:xfrm>
            <a:off x="311699" y="1017800"/>
            <a:ext cx="8594407" cy="3016210"/>
          </a:xfrm>
          <a:prstGeom prst="rect">
            <a:avLst/>
          </a:prstGeom>
          <a:noFill/>
        </p:spPr>
        <p:txBody>
          <a:bodyPr wrap="square">
            <a:spAutoFit/>
          </a:bodyPr>
          <a:lstStyle/>
          <a:p>
            <a:pPr algn="just">
              <a:lnSpc>
                <a:spcPct val="150000"/>
              </a:lnSpc>
            </a:pPr>
            <a:r>
              <a:rPr lang="en-US" sz="1900" dirty="0">
                <a:solidFill>
                  <a:srgbClr val="FF0000"/>
                </a:solidFill>
                <a:latin typeface="Arial (Body)"/>
              </a:rPr>
              <a:t>Template Literal </a:t>
            </a:r>
            <a:r>
              <a:rPr lang="en-US" sz="1900" dirty="0">
                <a:latin typeface="Arial (Body)"/>
              </a:rPr>
              <a:t>in ES6 provides new features to create a string that gives more control over dynamic strings. Traditionally, String is created using single </a:t>
            </a:r>
            <a:r>
              <a:rPr lang="en-US" sz="1900" dirty="0">
                <a:solidFill>
                  <a:srgbClr val="FF0000"/>
                </a:solidFill>
                <a:latin typeface="Arial (Body)"/>
              </a:rPr>
              <a:t>quotes (‘) </a:t>
            </a:r>
            <a:r>
              <a:rPr lang="en-US" sz="1900" dirty="0">
                <a:latin typeface="Arial (Body)"/>
              </a:rPr>
              <a:t>or double </a:t>
            </a:r>
            <a:r>
              <a:rPr lang="en-US" sz="1900" dirty="0">
                <a:solidFill>
                  <a:srgbClr val="FF0000"/>
                </a:solidFill>
                <a:latin typeface="Arial (Body)"/>
              </a:rPr>
              <a:t>quotes (“) </a:t>
            </a:r>
            <a:r>
              <a:rPr lang="en-US" sz="1900" dirty="0">
                <a:latin typeface="Arial (Body)"/>
              </a:rPr>
              <a:t>quotes. Template literal is created using the </a:t>
            </a:r>
            <a:r>
              <a:rPr lang="en-US" sz="1900" dirty="0">
                <a:solidFill>
                  <a:srgbClr val="FF0000"/>
                </a:solidFill>
                <a:latin typeface="Arial (Body)"/>
              </a:rPr>
              <a:t>backtick (`) </a:t>
            </a:r>
            <a:r>
              <a:rPr lang="en-US" sz="1900" dirty="0">
                <a:latin typeface="Arial (Body)"/>
              </a:rPr>
              <a:t>character.</a:t>
            </a:r>
          </a:p>
          <a:p>
            <a:pPr algn="just"/>
            <a:endParaRPr lang="en-US" sz="1900" dirty="0">
              <a:latin typeface="Arial (Body)"/>
            </a:endParaRPr>
          </a:p>
          <a:p>
            <a:pPr algn="just"/>
            <a:r>
              <a:rPr lang="en-US" sz="1900" dirty="0">
                <a:solidFill>
                  <a:srgbClr val="FF0000"/>
                </a:solidFill>
                <a:latin typeface="Arial (Body)"/>
              </a:rPr>
              <a:t>Syntax</a:t>
            </a:r>
            <a:r>
              <a:rPr lang="en-US" sz="1900" dirty="0">
                <a:latin typeface="Arial (Body)"/>
              </a:rPr>
              <a:t>:</a:t>
            </a:r>
          </a:p>
          <a:p>
            <a:pPr algn="just"/>
            <a:endParaRPr lang="en-US" sz="1900" dirty="0">
              <a:latin typeface="Arial (Body)"/>
            </a:endParaRPr>
          </a:p>
          <a:p>
            <a:pPr algn="just"/>
            <a:r>
              <a:rPr lang="en-US" sz="1900" dirty="0">
                <a:latin typeface="Arial (Body)"/>
              </a:rPr>
              <a:t>var s=`some string`;</a:t>
            </a:r>
          </a:p>
        </p:txBody>
      </p:sp>
      <p:sp>
        <p:nvSpPr>
          <p:cNvPr id="7" name="TextBox 6">
            <a:extLst>
              <a:ext uri="{FF2B5EF4-FFF2-40B4-BE49-F238E27FC236}">
                <a16:creationId xmlns:a16="http://schemas.microsoft.com/office/drawing/2014/main" id="{2C362C5F-D1FA-C2C0-73B4-A3E9EF85F75F}"/>
              </a:ext>
            </a:extLst>
          </p:cNvPr>
          <p:cNvSpPr txBox="1"/>
          <p:nvPr/>
        </p:nvSpPr>
        <p:spPr>
          <a:xfrm>
            <a:off x="237357" y="4262362"/>
            <a:ext cx="8036847" cy="307777"/>
          </a:xfrm>
          <a:prstGeom prst="rect">
            <a:avLst/>
          </a:prstGeom>
          <a:noFill/>
        </p:spPr>
        <p:txBody>
          <a:bodyPr wrap="square">
            <a:spAutoFit/>
          </a:bodyPr>
          <a:lstStyle/>
          <a:p>
            <a:r>
              <a:rPr lang="en-US" b="0" i="0" dirty="0">
                <a:solidFill>
                  <a:srgbClr val="000000"/>
                </a:solidFill>
                <a:effectLst/>
                <a:latin typeface="Verdana" panose="020B0604030504040204" pitchFamily="34" charset="0"/>
              </a:rPr>
              <a:t>Automatic replacing of variables with real values is called </a:t>
            </a:r>
            <a:r>
              <a:rPr lang="en-US" b="1" i="0" dirty="0">
                <a:solidFill>
                  <a:srgbClr val="000000"/>
                </a:solidFill>
                <a:effectLst/>
                <a:latin typeface="Verdana" panose="020B0604030504040204" pitchFamily="34" charset="0"/>
              </a:rPr>
              <a:t>string interpolation</a:t>
            </a:r>
            <a:r>
              <a:rPr lang="en-US" b="0" i="0" dirty="0">
                <a:solidFill>
                  <a:srgbClr val="000000"/>
                </a:solidFill>
                <a:effectLst/>
                <a:latin typeface="Verdana" panose="020B0604030504040204" pitchFamily="34" charset="0"/>
              </a:rPr>
              <a:t>.</a:t>
            </a:r>
            <a:endParaRPr lang="en-US" dirty="0"/>
          </a:p>
        </p:txBody>
      </p:sp>
    </p:spTree>
    <p:extLst>
      <p:ext uri="{BB962C8B-B14F-4D97-AF65-F5344CB8AC3E}">
        <p14:creationId xmlns:p14="http://schemas.microsoft.com/office/powerpoint/2010/main" val="3315711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2800" dirty="0">
                <a:latin typeface="+mj-lt"/>
                <a:ea typeface="+mj-ea"/>
                <a:cs typeface="Arial"/>
              </a:rPr>
              <a:t>Practice 1.10</a:t>
            </a:r>
            <a:endParaRPr lang="en-SO" dirty="0">
              <a:solidFill>
                <a:schemeClr val="tx1"/>
              </a:solidFill>
              <a:latin typeface="+mj-lt"/>
            </a:endParaRPr>
          </a:p>
        </p:txBody>
      </p:sp>
      <p:sp>
        <p:nvSpPr>
          <p:cNvPr id="5" name="TextBox 4">
            <a:extLst>
              <a:ext uri="{FF2B5EF4-FFF2-40B4-BE49-F238E27FC236}">
                <a16:creationId xmlns:a16="http://schemas.microsoft.com/office/drawing/2014/main" id="{C9971333-7485-9CE8-BDDC-76D01377F97F}"/>
              </a:ext>
            </a:extLst>
          </p:cNvPr>
          <p:cNvSpPr txBox="1"/>
          <p:nvPr/>
        </p:nvSpPr>
        <p:spPr>
          <a:xfrm>
            <a:off x="107795" y="538095"/>
            <a:ext cx="8739373"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9" name="TextBox 8">
            <a:extLst>
              <a:ext uri="{FF2B5EF4-FFF2-40B4-BE49-F238E27FC236}">
                <a16:creationId xmlns:a16="http://schemas.microsoft.com/office/drawing/2014/main" id="{3DBE6D64-392E-8521-A6FA-CB56A6D40014}"/>
              </a:ext>
            </a:extLst>
          </p:cNvPr>
          <p:cNvSpPr txBox="1"/>
          <p:nvPr/>
        </p:nvSpPr>
        <p:spPr>
          <a:xfrm>
            <a:off x="-24161" y="607800"/>
            <a:ext cx="9192322"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12" name="TextBox 11">
            <a:extLst>
              <a:ext uri="{FF2B5EF4-FFF2-40B4-BE49-F238E27FC236}">
                <a16:creationId xmlns:a16="http://schemas.microsoft.com/office/drawing/2014/main" id="{8323D534-EAE1-1A4C-B366-6C6430D49D6B}"/>
              </a:ext>
            </a:extLst>
          </p:cNvPr>
          <p:cNvSpPr txBox="1"/>
          <p:nvPr/>
        </p:nvSpPr>
        <p:spPr>
          <a:xfrm>
            <a:off x="296832" y="677505"/>
            <a:ext cx="8550336" cy="1815882"/>
          </a:xfrm>
          <a:prstGeom prst="rect">
            <a:avLst/>
          </a:prstGeom>
          <a:noFill/>
        </p:spPr>
        <p:txBody>
          <a:bodyPr wrap="square">
            <a:spAutoFit/>
          </a:bodyPr>
          <a:lstStyle/>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&lt;script&gt;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let Maximum=(</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x,y</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)=&gt;{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var result=`result ${(x&gt;y)? "x is greater than y": "y is greater than x"}`</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return result;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console.log(Maximum(8,2))</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&lt;/script&gt;</a:t>
            </a:r>
          </a:p>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14" name="TextBox 13">
            <a:extLst>
              <a:ext uri="{FF2B5EF4-FFF2-40B4-BE49-F238E27FC236}">
                <a16:creationId xmlns:a16="http://schemas.microsoft.com/office/drawing/2014/main" id="{EDC266AF-8BE6-67EA-A62B-93F171928D5A}"/>
              </a:ext>
            </a:extLst>
          </p:cNvPr>
          <p:cNvSpPr txBox="1"/>
          <p:nvPr/>
        </p:nvSpPr>
        <p:spPr>
          <a:xfrm>
            <a:off x="430647" y="3224059"/>
            <a:ext cx="4612886" cy="307777"/>
          </a:xfrm>
          <a:prstGeom prst="rect">
            <a:avLst/>
          </a:prstGeom>
          <a:noFill/>
        </p:spPr>
        <p:txBody>
          <a:bodyPr wrap="square">
            <a:spAutoFit/>
          </a:bodyPr>
          <a:lstStyle/>
          <a:p>
            <a:r>
              <a:rPr lang="en-US" sz="1400" dirty="0">
                <a:solidFill>
                  <a:srgbClr val="FF0000"/>
                </a:solidFill>
                <a:latin typeface="Arial (Body)"/>
              </a:rPr>
              <a:t>Output</a:t>
            </a:r>
            <a:endParaRPr lang="en-US" dirty="0">
              <a:solidFill>
                <a:srgbClr val="FF0000"/>
              </a:solidFill>
            </a:endParaRPr>
          </a:p>
        </p:txBody>
      </p:sp>
      <p:pic>
        <p:nvPicPr>
          <p:cNvPr id="4" name="Picture 3">
            <a:extLst>
              <a:ext uri="{FF2B5EF4-FFF2-40B4-BE49-F238E27FC236}">
                <a16:creationId xmlns:a16="http://schemas.microsoft.com/office/drawing/2014/main" id="{6AB76032-925C-7B24-501E-B950E3EB2AD7}"/>
              </a:ext>
            </a:extLst>
          </p:cNvPr>
          <p:cNvPicPr>
            <a:picLocks noChangeAspect="1"/>
          </p:cNvPicPr>
          <p:nvPr/>
        </p:nvPicPr>
        <p:blipFill>
          <a:blip r:embed="rId2"/>
          <a:stretch>
            <a:fillRect/>
          </a:stretch>
        </p:blipFill>
        <p:spPr>
          <a:xfrm>
            <a:off x="430647" y="3862458"/>
            <a:ext cx="5286375" cy="4000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391184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311700" y="182610"/>
            <a:ext cx="8520600" cy="607800"/>
          </a:xfrm>
        </p:spPr>
        <p:txBody>
          <a:bodyPr/>
          <a:lstStyle/>
          <a:p>
            <a:r>
              <a:rPr lang="en-US" sz="3200" b="1" i="0" dirty="0">
                <a:solidFill>
                  <a:schemeClr val="tx1"/>
                </a:solidFill>
                <a:effectLst/>
                <a:latin typeface="TypoPRO Open Sans"/>
              </a:rPr>
              <a:t>JSON</a:t>
            </a:r>
          </a:p>
        </p:txBody>
      </p:sp>
      <p:sp>
        <p:nvSpPr>
          <p:cNvPr id="5" name="TextBox 4">
            <a:extLst>
              <a:ext uri="{FF2B5EF4-FFF2-40B4-BE49-F238E27FC236}">
                <a16:creationId xmlns:a16="http://schemas.microsoft.com/office/drawing/2014/main" id="{8EDF79C3-1B04-05B5-92F1-9025662EF73E}"/>
              </a:ext>
            </a:extLst>
          </p:cNvPr>
          <p:cNvSpPr txBox="1"/>
          <p:nvPr/>
        </p:nvSpPr>
        <p:spPr>
          <a:xfrm>
            <a:off x="311700" y="843629"/>
            <a:ext cx="8594407" cy="523220"/>
          </a:xfrm>
          <a:prstGeom prst="rect">
            <a:avLst/>
          </a:prstGeom>
          <a:noFill/>
        </p:spPr>
        <p:txBody>
          <a:bodyPr wrap="square">
            <a:spAutoFit/>
          </a:bodyPr>
          <a:lstStyle/>
          <a:p>
            <a:pPr marL="457200" indent="-457200" algn="just">
              <a:buFont typeface="Arial" panose="020B0604020202020204" pitchFamily="34" charset="0"/>
              <a:buChar char="•"/>
            </a:pPr>
            <a:r>
              <a:rPr lang="en-US" sz="2800" b="1" i="0" dirty="0">
                <a:solidFill>
                  <a:srgbClr val="273239"/>
                </a:solidFill>
                <a:effectLst/>
                <a:latin typeface="urw-din"/>
              </a:rPr>
              <a:t>What is JSON?</a:t>
            </a:r>
            <a:endParaRPr lang="en-US" sz="1900" dirty="0">
              <a:solidFill>
                <a:srgbClr val="FF0000"/>
              </a:solidFill>
              <a:latin typeface="Arial (Body)"/>
            </a:endParaRPr>
          </a:p>
        </p:txBody>
      </p:sp>
      <p:sp>
        <p:nvSpPr>
          <p:cNvPr id="4" name="TextBox 3">
            <a:extLst>
              <a:ext uri="{FF2B5EF4-FFF2-40B4-BE49-F238E27FC236}">
                <a16:creationId xmlns:a16="http://schemas.microsoft.com/office/drawing/2014/main" id="{41FA487B-66FC-0F8F-B00F-A02EF3776E5A}"/>
              </a:ext>
            </a:extLst>
          </p:cNvPr>
          <p:cNvSpPr txBox="1"/>
          <p:nvPr/>
        </p:nvSpPr>
        <p:spPr>
          <a:xfrm>
            <a:off x="237894" y="1420068"/>
            <a:ext cx="8200399" cy="3546805"/>
          </a:xfrm>
          <a:prstGeom prst="rect">
            <a:avLst/>
          </a:prstGeom>
          <a:noFill/>
        </p:spPr>
        <p:txBody>
          <a:bodyPr wrap="square">
            <a:spAutoFit/>
          </a:bodyPr>
          <a:lstStyle/>
          <a:p>
            <a:pPr algn="just">
              <a:lnSpc>
                <a:spcPct val="150000"/>
              </a:lnSpc>
            </a:pPr>
            <a:r>
              <a:rPr lang="en-US" sz="1900" dirty="0">
                <a:solidFill>
                  <a:srgbClr val="FF0000"/>
                </a:solidFill>
                <a:latin typeface="Arial (Body)"/>
              </a:rPr>
              <a:t>JSON</a:t>
            </a:r>
            <a:r>
              <a:rPr lang="en-US" sz="1900" dirty="0">
                <a:latin typeface="Arial (Body)"/>
              </a:rPr>
              <a:t> or </a:t>
            </a:r>
            <a:r>
              <a:rPr lang="en-US" sz="1900" b="1" dirty="0">
                <a:latin typeface="Arial (Body)"/>
              </a:rPr>
              <a:t>J</a:t>
            </a:r>
            <a:r>
              <a:rPr lang="en-US" sz="1900" dirty="0">
                <a:latin typeface="Arial (Body)"/>
              </a:rPr>
              <a:t>ava</a:t>
            </a:r>
            <a:r>
              <a:rPr lang="en-US" sz="1900" b="1" dirty="0">
                <a:latin typeface="Arial (Body)"/>
              </a:rPr>
              <a:t>S</a:t>
            </a:r>
            <a:r>
              <a:rPr lang="en-US" sz="1900" dirty="0">
                <a:latin typeface="Arial (Body)"/>
              </a:rPr>
              <a:t>cript </a:t>
            </a:r>
            <a:r>
              <a:rPr lang="en-US" sz="1900" b="1" dirty="0">
                <a:latin typeface="Arial (Body)"/>
              </a:rPr>
              <a:t>O</a:t>
            </a:r>
            <a:r>
              <a:rPr lang="en-US" sz="1900" dirty="0">
                <a:latin typeface="Arial (Body)"/>
              </a:rPr>
              <a:t>bject </a:t>
            </a:r>
            <a:r>
              <a:rPr lang="en-US" sz="1900" b="1" dirty="0">
                <a:latin typeface="Arial (Body)"/>
              </a:rPr>
              <a:t>N</a:t>
            </a:r>
            <a:r>
              <a:rPr lang="en-US" sz="1900" dirty="0">
                <a:latin typeface="Arial (Body)"/>
              </a:rPr>
              <a:t>otation is a format for structuring data.</a:t>
            </a:r>
          </a:p>
          <a:p>
            <a:pPr algn="just">
              <a:lnSpc>
                <a:spcPct val="150000"/>
              </a:lnSpc>
            </a:pPr>
            <a:r>
              <a:rPr lang="en-US" sz="1900" dirty="0">
                <a:latin typeface="Arial (Body)"/>
              </a:rPr>
              <a:t>It is a standard text-based format for representing structured data based on JavaScript </a:t>
            </a:r>
            <a:r>
              <a:rPr lang="en-US" sz="1900" dirty="0">
                <a:solidFill>
                  <a:srgbClr val="FF0000"/>
                </a:solidFill>
                <a:latin typeface="Arial (Body)"/>
              </a:rPr>
              <a:t>object syntax</a:t>
            </a:r>
            <a:r>
              <a:rPr lang="en-US" sz="1900" dirty="0">
                <a:latin typeface="Arial (Body)"/>
              </a:rPr>
              <a:t>. It is commonly used for transmitting data in web applications (e.g., sending some data from the </a:t>
            </a:r>
            <a:r>
              <a:rPr lang="en-US" sz="1900" dirty="0">
                <a:solidFill>
                  <a:srgbClr val="FF0000"/>
                </a:solidFill>
                <a:latin typeface="Arial (Body)"/>
              </a:rPr>
              <a:t>server</a:t>
            </a:r>
            <a:r>
              <a:rPr lang="en-US" sz="1900" dirty="0">
                <a:latin typeface="Arial (Body)"/>
              </a:rPr>
              <a:t> to the </a:t>
            </a:r>
            <a:r>
              <a:rPr lang="en-US" sz="1900" dirty="0">
                <a:solidFill>
                  <a:srgbClr val="FF0000"/>
                </a:solidFill>
                <a:latin typeface="Arial (Body)"/>
              </a:rPr>
              <a:t>client</a:t>
            </a:r>
            <a:r>
              <a:rPr lang="en-US" sz="1900" dirty="0">
                <a:latin typeface="Arial (Body)"/>
              </a:rPr>
              <a:t>, so it can be displayed on a web page).</a:t>
            </a:r>
          </a:p>
          <a:p>
            <a:pPr algn="just">
              <a:lnSpc>
                <a:spcPct val="150000"/>
              </a:lnSpc>
            </a:pPr>
            <a:r>
              <a:rPr lang="en-US" sz="1900" dirty="0">
                <a:latin typeface="Arial (Body)"/>
              </a:rPr>
              <a:t>JSON exists as a string — useful when you want to transmit data across a network. It needs to be converted to a native JavaScript object when you want to access the data</a:t>
            </a:r>
          </a:p>
        </p:txBody>
      </p:sp>
    </p:spTree>
    <p:extLst>
      <p:ext uri="{BB962C8B-B14F-4D97-AF65-F5344CB8AC3E}">
        <p14:creationId xmlns:p14="http://schemas.microsoft.com/office/powerpoint/2010/main" val="4295340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311700" y="250343"/>
            <a:ext cx="8520600" cy="607800"/>
          </a:xfrm>
        </p:spPr>
        <p:txBody>
          <a:bodyPr/>
          <a:lstStyle/>
          <a:p>
            <a:r>
              <a:rPr lang="en-US" sz="3200" b="1" i="0" dirty="0" err="1">
                <a:solidFill>
                  <a:schemeClr val="tx1"/>
                </a:solidFill>
                <a:effectLst/>
                <a:latin typeface="TypoPRO Open Sans"/>
              </a:rPr>
              <a:t>Contu</a:t>
            </a:r>
            <a:r>
              <a:rPr lang="en-US" sz="3200" b="1" i="0" dirty="0">
                <a:solidFill>
                  <a:schemeClr val="tx1"/>
                </a:solidFill>
                <a:effectLst/>
                <a:latin typeface="TypoPRO Open Sans"/>
              </a:rPr>
              <a:t>….</a:t>
            </a:r>
          </a:p>
        </p:txBody>
      </p:sp>
      <p:sp>
        <p:nvSpPr>
          <p:cNvPr id="5" name="TextBox 4">
            <a:extLst>
              <a:ext uri="{FF2B5EF4-FFF2-40B4-BE49-F238E27FC236}">
                <a16:creationId xmlns:a16="http://schemas.microsoft.com/office/drawing/2014/main" id="{8EDF79C3-1B04-05B5-92F1-9025662EF73E}"/>
              </a:ext>
            </a:extLst>
          </p:cNvPr>
          <p:cNvSpPr txBox="1"/>
          <p:nvPr/>
        </p:nvSpPr>
        <p:spPr>
          <a:xfrm>
            <a:off x="311699" y="894689"/>
            <a:ext cx="8594407" cy="646331"/>
          </a:xfrm>
          <a:prstGeom prst="rect">
            <a:avLst/>
          </a:prstGeom>
          <a:noFill/>
        </p:spPr>
        <p:txBody>
          <a:bodyPr wrap="square">
            <a:spAutoFit/>
          </a:bodyPr>
          <a:lstStyle/>
          <a:p>
            <a:pPr marL="457200" indent="-457200" algn="just">
              <a:buFont typeface="Arial" panose="020B0604020202020204" pitchFamily="34" charset="0"/>
              <a:buChar char="•"/>
            </a:pPr>
            <a:r>
              <a:rPr lang="en-US" sz="3600" b="1" i="0" dirty="0">
                <a:solidFill>
                  <a:srgbClr val="273239"/>
                </a:solidFill>
                <a:effectLst/>
                <a:latin typeface="urw-din"/>
              </a:rPr>
              <a:t>Why JSON</a:t>
            </a:r>
            <a:r>
              <a:rPr lang="en-US" sz="2800" b="1" i="0" dirty="0">
                <a:solidFill>
                  <a:srgbClr val="273239"/>
                </a:solidFill>
                <a:effectLst/>
                <a:latin typeface="urw-din"/>
              </a:rPr>
              <a:t>?</a:t>
            </a:r>
            <a:endParaRPr lang="en-US" sz="1600" dirty="0">
              <a:solidFill>
                <a:srgbClr val="FF0000"/>
              </a:solidFill>
              <a:latin typeface="Arial (Body)"/>
            </a:endParaRPr>
          </a:p>
        </p:txBody>
      </p:sp>
      <p:sp>
        <p:nvSpPr>
          <p:cNvPr id="4" name="TextBox 3">
            <a:extLst>
              <a:ext uri="{FF2B5EF4-FFF2-40B4-BE49-F238E27FC236}">
                <a16:creationId xmlns:a16="http://schemas.microsoft.com/office/drawing/2014/main" id="{41FA487B-66FC-0F8F-B00F-A02EF3776E5A}"/>
              </a:ext>
            </a:extLst>
          </p:cNvPr>
          <p:cNvSpPr txBox="1"/>
          <p:nvPr/>
        </p:nvSpPr>
        <p:spPr>
          <a:xfrm>
            <a:off x="237894" y="1541020"/>
            <a:ext cx="8200399" cy="2860078"/>
          </a:xfrm>
          <a:prstGeom prst="rect">
            <a:avLst/>
          </a:prstGeom>
          <a:noFill/>
        </p:spPr>
        <p:txBody>
          <a:bodyPr wrap="square">
            <a:spAutoFit/>
          </a:bodyPr>
          <a:lstStyle/>
          <a:p>
            <a:pPr algn="just">
              <a:lnSpc>
                <a:spcPct val="150000"/>
              </a:lnSpc>
            </a:pPr>
            <a:r>
              <a:rPr lang="en-US" sz="1900" dirty="0">
                <a:latin typeface="Arial (Body)"/>
              </a:rPr>
              <a:t>The JSON format is syntactically similar to the code for creating JavaScript objects. Because of this, a JavaScript program can easily convert JSON data into </a:t>
            </a:r>
            <a:r>
              <a:rPr lang="en-US" sz="1900" dirty="0">
                <a:solidFill>
                  <a:srgbClr val="FF0000"/>
                </a:solidFill>
                <a:latin typeface="Arial (Body)"/>
              </a:rPr>
              <a:t>JavaScript objects</a:t>
            </a:r>
            <a:r>
              <a:rPr lang="en-US" sz="1900" dirty="0">
                <a:latin typeface="Arial (Body)"/>
              </a:rPr>
              <a:t>.</a:t>
            </a:r>
          </a:p>
          <a:p>
            <a:pPr algn="just">
              <a:lnSpc>
                <a:spcPct val="150000"/>
              </a:lnSpc>
            </a:pPr>
            <a:r>
              <a:rPr lang="en-US" sz="1900" dirty="0">
                <a:latin typeface="Arial (Body)"/>
              </a:rPr>
              <a:t>Since the format is </a:t>
            </a:r>
            <a:r>
              <a:rPr lang="en-US" sz="1900" dirty="0">
                <a:solidFill>
                  <a:srgbClr val="FF0000"/>
                </a:solidFill>
                <a:latin typeface="Arial (Body)"/>
              </a:rPr>
              <a:t>text only</a:t>
            </a:r>
            <a:r>
              <a:rPr lang="en-US" sz="1900" dirty="0">
                <a:latin typeface="Arial (Body)"/>
              </a:rPr>
              <a:t>, JSON data can easily be sent between computers, and used by any programming language. Most useful methods in JSON are </a:t>
            </a:r>
            <a:r>
              <a:rPr lang="en-US" sz="1900" dirty="0" err="1">
                <a:solidFill>
                  <a:srgbClr val="FF0000"/>
                </a:solidFill>
                <a:latin typeface="Arial (Body)"/>
              </a:rPr>
              <a:t>JSON.parse</a:t>
            </a:r>
            <a:r>
              <a:rPr lang="en-US" sz="1900" dirty="0">
                <a:solidFill>
                  <a:srgbClr val="FF0000"/>
                </a:solidFill>
                <a:latin typeface="Arial (Body)"/>
              </a:rPr>
              <a:t>()</a:t>
            </a:r>
            <a:r>
              <a:rPr lang="en-US" sz="2800" b="0" i="0" dirty="0">
                <a:solidFill>
                  <a:schemeClr val="bg2"/>
                </a:solidFill>
                <a:effectLst/>
                <a:latin typeface="Consolas" panose="020B0609020204030204" pitchFamily="49" charset="0"/>
              </a:rPr>
              <a:t>and</a:t>
            </a:r>
            <a:r>
              <a:rPr lang="en-US" sz="2800" b="0" i="0" dirty="0">
                <a:solidFill>
                  <a:srgbClr val="DC143C"/>
                </a:solidFill>
                <a:effectLst/>
                <a:latin typeface="Consolas" panose="020B0609020204030204" pitchFamily="49" charset="0"/>
              </a:rPr>
              <a:t> </a:t>
            </a:r>
            <a:r>
              <a:rPr lang="en-US" sz="1900" dirty="0" err="1">
                <a:solidFill>
                  <a:srgbClr val="FF0000"/>
                </a:solidFill>
                <a:latin typeface="Arial (Body)"/>
              </a:rPr>
              <a:t>JSON.stringify</a:t>
            </a:r>
            <a:r>
              <a:rPr lang="en-US" sz="1900" dirty="0">
                <a:solidFill>
                  <a:srgbClr val="FF0000"/>
                </a:solidFill>
                <a:latin typeface="Arial (Body)"/>
              </a:rPr>
              <a:t>()</a:t>
            </a:r>
          </a:p>
        </p:txBody>
      </p:sp>
    </p:spTree>
    <p:extLst>
      <p:ext uri="{BB962C8B-B14F-4D97-AF65-F5344CB8AC3E}">
        <p14:creationId xmlns:p14="http://schemas.microsoft.com/office/powerpoint/2010/main" val="39035816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311700" y="221314"/>
            <a:ext cx="8520600" cy="607800"/>
          </a:xfrm>
        </p:spPr>
        <p:txBody>
          <a:bodyPr/>
          <a:lstStyle/>
          <a:p>
            <a:r>
              <a:rPr lang="en-US" sz="3200" b="1" i="0" dirty="0" err="1">
                <a:solidFill>
                  <a:schemeClr val="tx1"/>
                </a:solidFill>
                <a:effectLst/>
                <a:latin typeface="TypoPRO Open Sans"/>
              </a:rPr>
              <a:t>Contu</a:t>
            </a:r>
            <a:r>
              <a:rPr lang="en-US" sz="3200" b="1" i="0" dirty="0">
                <a:solidFill>
                  <a:schemeClr val="tx1"/>
                </a:solidFill>
                <a:effectLst/>
                <a:latin typeface="TypoPRO Open Sans"/>
              </a:rPr>
              <a:t>….</a:t>
            </a:r>
          </a:p>
        </p:txBody>
      </p:sp>
      <p:sp>
        <p:nvSpPr>
          <p:cNvPr id="5" name="TextBox 4">
            <a:extLst>
              <a:ext uri="{FF2B5EF4-FFF2-40B4-BE49-F238E27FC236}">
                <a16:creationId xmlns:a16="http://schemas.microsoft.com/office/drawing/2014/main" id="{8EDF79C3-1B04-05B5-92F1-9025662EF73E}"/>
              </a:ext>
            </a:extLst>
          </p:cNvPr>
          <p:cNvSpPr txBox="1"/>
          <p:nvPr/>
        </p:nvSpPr>
        <p:spPr>
          <a:xfrm>
            <a:off x="311700" y="877496"/>
            <a:ext cx="8594407" cy="523220"/>
          </a:xfrm>
          <a:prstGeom prst="rect">
            <a:avLst/>
          </a:prstGeom>
          <a:noFill/>
        </p:spPr>
        <p:txBody>
          <a:bodyPr wrap="square">
            <a:spAutoFit/>
          </a:bodyPr>
          <a:lstStyle/>
          <a:p>
            <a:pPr marL="457200" indent="-457200" algn="just">
              <a:buFont typeface="Arial" panose="020B0604020202020204" pitchFamily="34" charset="0"/>
              <a:buChar char="•"/>
            </a:pPr>
            <a:r>
              <a:rPr lang="en-US" sz="2800" b="1" i="0" dirty="0">
                <a:solidFill>
                  <a:srgbClr val="273239"/>
                </a:solidFill>
                <a:effectLst/>
                <a:latin typeface="urw-din"/>
              </a:rPr>
              <a:t>Characteristics of JSON</a:t>
            </a:r>
            <a:endParaRPr lang="en-US" sz="1050" dirty="0">
              <a:solidFill>
                <a:srgbClr val="FF0000"/>
              </a:solidFill>
              <a:latin typeface="Arial (Body)"/>
            </a:endParaRPr>
          </a:p>
        </p:txBody>
      </p:sp>
      <p:sp>
        <p:nvSpPr>
          <p:cNvPr id="4" name="TextBox 3">
            <a:extLst>
              <a:ext uri="{FF2B5EF4-FFF2-40B4-BE49-F238E27FC236}">
                <a16:creationId xmlns:a16="http://schemas.microsoft.com/office/drawing/2014/main" id="{41FA487B-66FC-0F8F-B00F-A02EF3776E5A}"/>
              </a:ext>
            </a:extLst>
          </p:cNvPr>
          <p:cNvSpPr txBox="1"/>
          <p:nvPr/>
        </p:nvSpPr>
        <p:spPr>
          <a:xfrm>
            <a:off x="237893" y="1366848"/>
            <a:ext cx="8200399" cy="3647665"/>
          </a:xfrm>
          <a:prstGeom prst="rect">
            <a:avLst/>
          </a:prstGeom>
          <a:noFill/>
        </p:spPr>
        <p:txBody>
          <a:bodyPr wrap="square">
            <a:spAutoFit/>
          </a:bodyPr>
          <a:lstStyle/>
          <a:p>
            <a:pPr algn="just" fontAlgn="base">
              <a:lnSpc>
                <a:spcPct val="150000"/>
              </a:lnSpc>
              <a:buFont typeface="Arial" panose="020B0604020202020204" pitchFamily="34" charset="0"/>
              <a:buChar char="•"/>
            </a:pPr>
            <a:r>
              <a:rPr lang="en-US" sz="1900" dirty="0">
                <a:latin typeface="Arial (Body)"/>
              </a:rPr>
              <a:t>It is </a:t>
            </a:r>
            <a:r>
              <a:rPr lang="en-US" sz="2000" b="1" i="0" dirty="0">
                <a:solidFill>
                  <a:srgbClr val="273239"/>
                </a:solidFill>
                <a:effectLst/>
                <a:latin typeface="urw-din"/>
              </a:rPr>
              <a:t>Human-readable and writable</a:t>
            </a:r>
            <a:r>
              <a:rPr lang="en-US" sz="2000" b="0" i="0" dirty="0">
                <a:solidFill>
                  <a:srgbClr val="273239"/>
                </a:solidFill>
                <a:effectLst/>
                <a:latin typeface="urw-din"/>
              </a:rPr>
              <a:t>.</a:t>
            </a:r>
          </a:p>
          <a:p>
            <a:pPr algn="just" fontAlgn="base">
              <a:lnSpc>
                <a:spcPct val="150000"/>
              </a:lnSpc>
              <a:buFont typeface="Arial" panose="020B0604020202020204" pitchFamily="34" charset="0"/>
              <a:buChar char="•"/>
            </a:pPr>
            <a:r>
              <a:rPr lang="en-US" sz="1900" dirty="0">
                <a:latin typeface="Arial (Body)"/>
              </a:rPr>
              <a:t>It is </a:t>
            </a:r>
            <a:r>
              <a:rPr lang="en-US" sz="2000" b="1" i="0" dirty="0">
                <a:solidFill>
                  <a:srgbClr val="273239"/>
                </a:solidFill>
                <a:effectLst/>
                <a:latin typeface="urw-din"/>
              </a:rPr>
              <a:t>light weight text based data interchange format</a:t>
            </a:r>
            <a:r>
              <a:rPr lang="en-US" sz="2000" b="0" i="0" dirty="0">
                <a:solidFill>
                  <a:srgbClr val="273239"/>
                </a:solidFill>
                <a:effectLst/>
                <a:latin typeface="urw-din"/>
              </a:rPr>
              <a:t> </a:t>
            </a:r>
            <a:r>
              <a:rPr lang="en-US" sz="1900" dirty="0">
                <a:latin typeface="Arial (Body)"/>
              </a:rPr>
              <a:t>which means, it is simpler to read and write when compared to XML.</a:t>
            </a:r>
          </a:p>
          <a:p>
            <a:pPr algn="just" fontAlgn="base">
              <a:lnSpc>
                <a:spcPct val="150000"/>
              </a:lnSpc>
              <a:buFont typeface="Arial" panose="020B0604020202020204" pitchFamily="34" charset="0"/>
              <a:buChar char="•"/>
            </a:pPr>
            <a:r>
              <a:rPr lang="en-US" sz="1900" dirty="0">
                <a:latin typeface="Arial (Body)"/>
              </a:rPr>
              <a:t>It is widely used as </a:t>
            </a:r>
            <a:r>
              <a:rPr lang="en-US" sz="2000" b="1" i="0" dirty="0">
                <a:solidFill>
                  <a:srgbClr val="273239"/>
                </a:solidFill>
                <a:effectLst/>
                <a:latin typeface="urw-din"/>
              </a:rPr>
              <a:t>data storage and communication format</a:t>
            </a:r>
            <a:r>
              <a:rPr lang="en-US" sz="2000" b="0" i="0" dirty="0">
                <a:solidFill>
                  <a:srgbClr val="273239"/>
                </a:solidFill>
                <a:effectLst/>
                <a:latin typeface="urw-din"/>
              </a:rPr>
              <a:t> </a:t>
            </a:r>
            <a:r>
              <a:rPr lang="en-US" sz="1900" dirty="0">
                <a:latin typeface="Arial (Body)"/>
              </a:rPr>
              <a:t>on the web</a:t>
            </a:r>
            <a:r>
              <a:rPr lang="en-US" sz="2000" b="0" i="0" dirty="0">
                <a:solidFill>
                  <a:srgbClr val="273239"/>
                </a:solidFill>
                <a:effectLst/>
                <a:latin typeface="urw-din"/>
              </a:rPr>
              <a:t>.</a:t>
            </a:r>
          </a:p>
          <a:p>
            <a:pPr algn="just" fontAlgn="base">
              <a:lnSpc>
                <a:spcPct val="150000"/>
              </a:lnSpc>
              <a:buFont typeface="Arial" panose="020B0604020202020204" pitchFamily="34" charset="0"/>
              <a:buChar char="•"/>
            </a:pPr>
            <a:r>
              <a:rPr lang="en-US" sz="1900" dirty="0">
                <a:latin typeface="Arial (Body)"/>
              </a:rPr>
              <a:t>Though it is derived from a subset of JavaScript, yet it is </a:t>
            </a:r>
            <a:r>
              <a:rPr lang="en-US" sz="2000" b="1" i="0" dirty="0">
                <a:solidFill>
                  <a:srgbClr val="273239"/>
                </a:solidFill>
                <a:effectLst/>
                <a:latin typeface="urw-din"/>
              </a:rPr>
              <a:t>Language independent</a:t>
            </a:r>
            <a:r>
              <a:rPr lang="en-US" sz="2000" b="0" i="0" dirty="0">
                <a:solidFill>
                  <a:srgbClr val="273239"/>
                </a:solidFill>
                <a:effectLst/>
                <a:latin typeface="urw-din"/>
              </a:rPr>
              <a:t>. </a:t>
            </a:r>
            <a:r>
              <a:rPr lang="en-US" sz="1900" dirty="0">
                <a:latin typeface="Arial (Body)"/>
              </a:rPr>
              <a:t>Thus, the code for generating and parsing JSON data can be written in any other programming language</a:t>
            </a:r>
            <a:r>
              <a:rPr lang="en-US" sz="2000" b="0" i="0" dirty="0">
                <a:solidFill>
                  <a:srgbClr val="273239"/>
                </a:solidFill>
                <a:effectLst/>
                <a:latin typeface="urw-din"/>
              </a:rPr>
              <a:t>.</a:t>
            </a:r>
          </a:p>
          <a:p>
            <a:pPr algn="just">
              <a:lnSpc>
                <a:spcPct val="150000"/>
              </a:lnSpc>
            </a:pPr>
            <a:endParaRPr lang="en-US" sz="1600" dirty="0">
              <a:solidFill>
                <a:srgbClr val="FF0000"/>
              </a:solidFill>
              <a:latin typeface="Arial (Body)"/>
            </a:endParaRPr>
          </a:p>
        </p:txBody>
      </p:sp>
    </p:spTree>
    <p:extLst>
      <p:ext uri="{BB962C8B-B14F-4D97-AF65-F5344CB8AC3E}">
        <p14:creationId xmlns:p14="http://schemas.microsoft.com/office/powerpoint/2010/main" val="11964399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311700" y="153424"/>
            <a:ext cx="8520600" cy="607800"/>
          </a:xfrm>
        </p:spPr>
        <p:txBody>
          <a:bodyPr/>
          <a:lstStyle/>
          <a:p>
            <a:r>
              <a:rPr lang="en-US" sz="3200" b="1" i="0" dirty="0" err="1">
                <a:solidFill>
                  <a:schemeClr val="tx1"/>
                </a:solidFill>
                <a:effectLst/>
                <a:latin typeface="TypoPRO Open Sans"/>
              </a:rPr>
              <a:t>Contu</a:t>
            </a:r>
            <a:r>
              <a:rPr lang="en-US" sz="3200" b="1" i="0" dirty="0">
                <a:solidFill>
                  <a:schemeClr val="tx1"/>
                </a:solidFill>
                <a:effectLst/>
                <a:latin typeface="TypoPRO Open Sans"/>
              </a:rPr>
              <a:t>….</a:t>
            </a:r>
          </a:p>
        </p:txBody>
      </p:sp>
      <p:sp>
        <p:nvSpPr>
          <p:cNvPr id="4" name="TextBox 3">
            <a:extLst>
              <a:ext uri="{FF2B5EF4-FFF2-40B4-BE49-F238E27FC236}">
                <a16:creationId xmlns:a16="http://schemas.microsoft.com/office/drawing/2014/main" id="{41FA487B-66FC-0F8F-B00F-A02EF3776E5A}"/>
              </a:ext>
            </a:extLst>
          </p:cNvPr>
          <p:cNvSpPr txBox="1"/>
          <p:nvPr/>
        </p:nvSpPr>
        <p:spPr>
          <a:xfrm>
            <a:off x="194994" y="1274925"/>
            <a:ext cx="8200399" cy="3647665"/>
          </a:xfrm>
          <a:prstGeom prst="rect">
            <a:avLst/>
          </a:prstGeom>
          <a:noFill/>
        </p:spPr>
        <p:txBody>
          <a:bodyPr wrap="square">
            <a:spAutoFit/>
          </a:bodyPr>
          <a:lstStyle/>
          <a:p>
            <a:pPr algn="just">
              <a:lnSpc>
                <a:spcPct val="150000"/>
              </a:lnSpc>
              <a:buFont typeface="Arial" panose="020B0604020202020204" pitchFamily="34" charset="0"/>
              <a:buChar char="•"/>
            </a:pPr>
            <a:r>
              <a:rPr lang="en-US" sz="2000" dirty="0">
                <a:solidFill>
                  <a:srgbClr val="273239"/>
                </a:solidFill>
                <a:latin typeface="urw-din"/>
              </a:rPr>
              <a:t>Data has to be in key/value pairs, separated by a colon.</a:t>
            </a:r>
          </a:p>
          <a:p>
            <a:pPr algn="just">
              <a:lnSpc>
                <a:spcPct val="150000"/>
              </a:lnSpc>
              <a:buFont typeface="Arial" panose="020B0604020202020204" pitchFamily="34" charset="0"/>
              <a:buChar char="•"/>
            </a:pPr>
            <a:r>
              <a:rPr lang="en-US" sz="2000" dirty="0">
                <a:solidFill>
                  <a:srgbClr val="273239"/>
                </a:solidFill>
                <a:latin typeface="urw-din"/>
              </a:rPr>
              <a:t>Data pairs have to be separated by a comma.</a:t>
            </a:r>
          </a:p>
          <a:p>
            <a:pPr algn="just">
              <a:lnSpc>
                <a:spcPct val="150000"/>
              </a:lnSpc>
              <a:buFont typeface="Arial" panose="020B0604020202020204" pitchFamily="34" charset="0"/>
              <a:buChar char="•"/>
            </a:pPr>
            <a:r>
              <a:rPr lang="en-US" sz="2000" dirty="0">
                <a:solidFill>
                  <a:srgbClr val="273239"/>
                </a:solidFill>
                <a:latin typeface="urw-din"/>
              </a:rPr>
              <a:t>In data pairs, the key needs to be a unique double-quoted string.</a:t>
            </a:r>
          </a:p>
          <a:p>
            <a:pPr algn="just">
              <a:lnSpc>
                <a:spcPct val="150000"/>
              </a:lnSpc>
              <a:buFont typeface="Arial" panose="020B0604020202020204" pitchFamily="34" charset="0"/>
              <a:buChar char="•"/>
            </a:pPr>
            <a:r>
              <a:rPr lang="en-US" sz="2000" dirty="0">
                <a:solidFill>
                  <a:srgbClr val="273239"/>
                </a:solidFill>
                <a:latin typeface="urw-din"/>
              </a:rPr>
              <a:t>The value can be any primitive data type but never a function.</a:t>
            </a:r>
          </a:p>
          <a:p>
            <a:pPr algn="just">
              <a:lnSpc>
                <a:spcPct val="150000"/>
              </a:lnSpc>
              <a:buFont typeface="Arial" panose="020B0604020202020204" pitchFamily="34" charset="0"/>
              <a:buChar char="•"/>
            </a:pPr>
            <a:r>
              <a:rPr lang="en-US" sz="2000" dirty="0">
                <a:solidFill>
                  <a:srgbClr val="273239"/>
                </a:solidFill>
                <a:latin typeface="urw-din"/>
              </a:rPr>
              <a:t>Objects are written inside curly brackets.</a:t>
            </a:r>
          </a:p>
          <a:p>
            <a:pPr algn="just">
              <a:lnSpc>
                <a:spcPct val="150000"/>
              </a:lnSpc>
              <a:buFont typeface="Arial" panose="020B0604020202020204" pitchFamily="34" charset="0"/>
              <a:buChar char="•"/>
            </a:pPr>
            <a:r>
              <a:rPr lang="en-US" sz="2000" dirty="0">
                <a:solidFill>
                  <a:srgbClr val="273239"/>
                </a:solidFill>
                <a:latin typeface="urw-din"/>
              </a:rPr>
              <a:t>Arrays are written inside square brackets.</a:t>
            </a:r>
          </a:p>
          <a:p>
            <a:pPr algn="l" fontAlgn="base">
              <a:lnSpc>
                <a:spcPct val="150000"/>
              </a:lnSpc>
            </a:pPr>
            <a:endParaRPr lang="en-US" sz="2000" b="0" i="0" dirty="0">
              <a:solidFill>
                <a:srgbClr val="273239"/>
              </a:solidFill>
              <a:effectLst/>
              <a:latin typeface="urw-din"/>
            </a:endParaRPr>
          </a:p>
          <a:p>
            <a:pPr algn="just">
              <a:lnSpc>
                <a:spcPct val="150000"/>
              </a:lnSpc>
            </a:pPr>
            <a:endParaRPr lang="en-US" sz="1600" dirty="0">
              <a:solidFill>
                <a:srgbClr val="FF0000"/>
              </a:solidFill>
              <a:latin typeface="Arial (Body)"/>
            </a:endParaRPr>
          </a:p>
        </p:txBody>
      </p:sp>
      <p:sp>
        <p:nvSpPr>
          <p:cNvPr id="12" name="TextBox 11">
            <a:extLst>
              <a:ext uri="{FF2B5EF4-FFF2-40B4-BE49-F238E27FC236}">
                <a16:creationId xmlns:a16="http://schemas.microsoft.com/office/drawing/2014/main" id="{7DFAB0B2-35F1-2B03-3C78-F9AA238148F6}"/>
              </a:ext>
            </a:extLst>
          </p:cNvPr>
          <p:cNvSpPr txBox="1"/>
          <p:nvPr/>
        </p:nvSpPr>
        <p:spPr>
          <a:xfrm>
            <a:off x="194994" y="833134"/>
            <a:ext cx="8594407" cy="707886"/>
          </a:xfrm>
          <a:prstGeom prst="rect">
            <a:avLst/>
          </a:prstGeom>
          <a:noFill/>
        </p:spPr>
        <p:txBody>
          <a:bodyPr wrap="square">
            <a:spAutoFit/>
          </a:bodyPr>
          <a:lstStyle/>
          <a:p>
            <a:pPr marL="457200" indent="-457200" algn="just">
              <a:buFont typeface="Arial" panose="020B0604020202020204" pitchFamily="34" charset="0"/>
              <a:buChar char="•"/>
            </a:pPr>
            <a:r>
              <a:rPr lang="en-US" sz="2800" b="1" dirty="0">
                <a:solidFill>
                  <a:srgbClr val="273239"/>
                </a:solidFill>
                <a:latin typeface="urw-din"/>
              </a:rPr>
              <a:t>JSON Syntax Rules</a:t>
            </a:r>
          </a:p>
          <a:p>
            <a:pPr marL="457200" indent="-457200" algn="just">
              <a:buFont typeface="Arial" panose="020B0604020202020204" pitchFamily="34" charset="0"/>
              <a:buChar char="•"/>
            </a:pPr>
            <a:endParaRPr lang="en-US" sz="1200" dirty="0">
              <a:solidFill>
                <a:srgbClr val="FF0000"/>
              </a:solidFill>
              <a:latin typeface="Arial (Body)"/>
            </a:endParaRPr>
          </a:p>
        </p:txBody>
      </p:sp>
      <p:pic>
        <p:nvPicPr>
          <p:cNvPr id="14" name="Picture 13">
            <a:extLst>
              <a:ext uri="{FF2B5EF4-FFF2-40B4-BE49-F238E27FC236}">
                <a16:creationId xmlns:a16="http://schemas.microsoft.com/office/drawing/2014/main" id="{95BDFEC9-BC1C-E9DF-9698-8A2D3B79EDFC}"/>
              </a:ext>
            </a:extLst>
          </p:cNvPr>
          <p:cNvPicPr>
            <a:picLocks noChangeAspect="1"/>
          </p:cNvPicPr>
          <p:nvPr/>
        </p:nvPicPr>
        <p:blipFill>
          <a:blip r:embed="rId2"/>
          <a:stretch>
            <a:fillRect/>
          </a:stretch>
        </p:blipFill>
        <p:spPr>
          <a:xfrm>
            <a:off x="4789714" y="3401181"/>
            <a:ext cx="4141400" cy="1654039"/>
          </a:xfrm>
          <a:prstGeom prst="rect">
            <a:avLst/>
          </a:prstGeom>
        </p:spPr>
      </p:pic>
    </p:spTree>
    <p:extLst>
      <p:ext uri="{BB962C8B-B14F-4D97-AF65-F5344CB8AC3E}">
        <p14:creationId xmlns:p14="http://schemas.microsoft.com/office/powerpoint/2010/main" val="36981335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430647" y="0"/>
            <a:ext cx="8520600" cy="607800"/>
          </a:xfrm>
        </p:spPr>
        <p:txBody>
          <a:bodyPr/>
          <a:lstStyle/>
          <a:p>
            <a:r>
              <a:rPr lang="en-US" altLang="en-US" sz="2800" dirty="0">
                <a:latin typeface="+mj-lt"/>
                <a:ea typeface="+mj-ea"/>
                <a:cs typeface="Arial"/>
              </a:rPr>
              <a:t>Practice 1.11</a:t>
            </a:r>
            <a:endParaRPr lang="en-SO" dirty="0">
              <a:solidFill>
                <a:schemeClr val="tx1"/>
              </a:solidFill>
              <a:latin typeface="+mj-lt"/>
            </a:endParaRPr>
          </a:p>
        </p:txBody>
      </p:sp>
      <p:sp>
        <p:nvSpPr>
          <p:cNvPr id="5" name="TextBox 4">
            <a:extLst>
              <a:ext uri="{FF2B5EF4-FFF2-40B4-BE49-F238E27FC236}">
                <a16:creationId xmlns:a16="http://schemas.microsoft.com/office/drawing/2014/main" id="{C9971333-7485-9CE8-BDDC-76D01377F97F}"/>
              </a:ext>
            </a:extLst>
          </p:cNvPr>
          <p:cNvSpPr txBox="1"/>
          <p:nvPr/>
        </p:nvSpPr>
        <p:spPr>
          <a:xfrm>
            <a:off x="107795" y="538095"/>
            <a:ext cx="8739373"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12" name="TextBox 11">
            <a:extLst>
              <a:ext uri="{FF2B5EF4-FFF2-40B4-BE49-F238E27FC236}">
                <a16:creationId xmlns:a16="http://schemas.microsoft.com/office/drawing/2014/main" id="{8323D534-EAE1-1A4C-B366-6C6430D49D6B}"/>
              </a:ext>
            </a:extLst>
          </p:cNvPr>
          <p:cNvSpPr txBox="1"/>
          <p:nvPr/>
        </p:nvSpPr>
        <p:spPr>
          <a:xfrm>
            <a:off x="485869" y="476783"/>
            <a:ext cx="8550336" cy="3323987"/>
          </a:xfrm>
          <a:prstGeom prst="rect">
            <a:avLst/>
          </a:prstGeom>
          <a:noFill/>
        </p:spPr>
        <p:txBody>
          <a:bodyPr wrap="square">
            <a:spAutoFit/>
          </a:bodyPr>
          <a:lstStyle/>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&lt;script&gt;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let computers=[</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 brand:"HP",price:500,os:"Windows"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{brand:"Acer",price:450,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os</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:"Linux"},</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{brand:"Dell",price:300,os:"Mac"}</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computer.forEach</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(function(element){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console.log("Computer: ",element," information");</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for(let  </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i</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in element)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console.log(element[</a:t>
            </a:r>
            <a:r>
              <a:rPr lang="en-US" dirty="0" err="1">
                <a:ln w="0"/>
                <a:solidFill>
                  <a:schemeClr val="tx1"/>
                </a:solidFill>
                <a:effectLst>
                  <a:outerShdw blurRad="38100" dist="19050" dir="2700000" algn="tl" rotWithShape="0">
                    <a:schemeClr val="dk1">
                      <a:alpha val="40000"/>
                    </a:schemeClr>
                  </a:outerShdw>
                </a:effectLst>
                <a:latin typeface="Consolas" panose="020B0609020204030204" pitchFamily="49" charset="0"/>
              </a:rPr>
              <a:t>i</a:t>
            </a:r>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   })    </a:t>
            </a:r>
          </a:p>
          <a:p>
            <a:r>
              <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rPr>
              <a:t>&lt;/script&gt;</a:t>
            </a:r>
          </a:p>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14" name="TextBox 13">
            <a:extLst>
              <a:ext uri="{FF2B5EF4-FFF2-40B4-BE49-F238E27FC236}">
                <a16:creationId xmlns:a16="http://schemas.microsoft.com/office/drawing/2014/main" id="{EDC266AF-8BE6-67EA-A62B-93F171928D5A}"/>
              </a:ext>
            </a:extLst>
          </p:cNvPr>
          <p:cNvSpPr txBox="1"/>
          <p:nvPr/>
        </p:nvSpPr>
        <p:spPr>
          <a:xfrm>
            <a:off x="6351688" y="2196492"/>
            <a:ext cx="2026595" cy="307777"/>
          </a:xfrm>
          <a:prstGeom prst="rect">
            <a:avLst/>
          </a:prstGeom>
          <a:noFill/>
        </p:spPr>
        <p:txBody>
          <a:bodyPr wrap="square">
            <a:spAutoFit/>
          </a:bodyPr>
          <a:lstStyle/>
          <a:p>
            <a:r>
              <a:rPr lang="en-US" sz="1400" dirty="0">
                <a:solidFill>
                  <a:srgbClr val="FF0000"/>
                </a:solidFill>
                <a:latin typeface="Arial (Body)"/>
              </a:rPr>
              <a:t>Output</a:t>
            </a:r>
            <a:endParaRPr lang="en-US" dirty="0">
              <a:solidFill>
                <a:srgbClr val="FF0000"/>
              </a:solidFill>
            </a:endParaRPr>
          </a:p>
        </p:txBody>
      </p:sp>
      <p:pic>
        <p:nvPicPr>
          <p:cNvPr id="6" name="Picture 5">
            <a:extLst>
              <a:ext uri="{FF2B5EF4-FFF2-40B4-BE49-F238E27FC236}">
                <a16:creationId xmlns:a16="http://schemas.microsoft.com/office/drawing/2014/main" id="{2EA5DDFE-C730-4D71-C3AD-07D62C4D8ED5}"/>
              </a:ext>
            </a:extLst>
          </p:cNvPr>
          <p:cNvPicPr>
            <a:picLocks noChangeAspect="1"/>
          </p:cNvPicPr>
          <p:nvPr/>
        </p:nvPicPr>
        <p:blipFill>
          <a:blip r:embed="rId2"/>
          <a:stretch>
            <a:fillRect/>
          </a:stretch>
        </p:blipFill>
        <p:spPr>
          <a:xfrm>
            <a:off x="3978842" y="2571750"/>
            <a:ext cx="4868326" cy="24234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37079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971333-7485-9CE8-BDDC-76D01377F97F}"/>
              </a:ext>
            </a:extLst>
          </p:cNvPr>
          <p:cNvSpPr txBox="1"/>
          <p:nvPr/>
        </p:nvSpPr>
        <p:spPr>
          <a:xfrm>
            <a:off x="107795" y="538095"/>
            <a:ext cx="8739373" cy="307777"/>
          </a:xfrm>
          <a:prstGeom prst="rect">
            <a:avLst/>
          </a:prstGeom>
          <a:noFill/>
        </p:spPr>
        <p:txBody>
          <a:bodyPr wrap="square">
            <a:spAutoFit/>
          </a:bodyPr>
          <a:lstStyle/>
          <a:p>
            <a:endParaRPr lang="en-US" dirty="0">
              <a:ln w="0"/>
              <a:solidFill>
                <a:schemeClr val="tx1"/>
              </a:solidFill>
              <a:effectLst>
                <a:outerShdw blurRad="38100" dist="19050" dir="2700000" algn="tl" rotWithShape="0">
                  <a:schemeClr val="dk1">
                    <a:alpha val="40000"/>
                  </a:schemeClr>
                </a:outerShdw>
              </a:effectLst>
              <a:latin typeface="Consolas" panose="020B0609020204030204" pitchFamily="49" charset="0"/>
            </a:endParaRPr>
          </a:p>
        </p:txBody>
      </p:sp>
      <p:sp>
        <p:nvSpPr>
          <p:cNvPr id="7" name="object 4">
            <a:extLst>
              <a:ext uri="{FF2B5EF4-FFF2-40B4-BE49-F238E27FC236}">
                <a16:creationId xmlns:a16="http://schemas.microsoft.com/office/drawing/2014/main" id="{076710DF-226D-679B-69EA-DECD421000BE}"/>
              </a:ext>
            </a:extLst>
          </p:cNvPr>
          <p:cNvSpPr txBox="1">
            <a:spLocks noGrp="1"/>
          </p:cNvSpPr>
          <p:nvPr>
            <p:ph type="title"/>
          </p:nvPr>
        </p:nvSpPr>
        <p:spPr>
          <a:xfrm>
            <a:off x="107795" y="250757"/>
            <a:ext cx="8191994" cy="518091"/>
          </a:xfrm>
          <a:prstGeom prst="rect">
            <a:avLst/>
          </a:prstGeom>
        </p:spPr>
        <p:txBody>
          <a:bodyPr vert="horz" wrap="square" lIns="0" tIns="12700" rIns="0" bIns="0" rtlCol="0">
            <a:spAutoFit/>
          </a:bodyPr>
          <a:lstStyle/>
          <a:p>
            <a:pPr marL="12700">
              <a:lnSpc>
                <a:spcPct val="100000"/>
              </a:lnSpc>
              <a:spcBef>
                <a:spcPts val="100"/>
              </a:spcBef>
              <a:tabLst>
                <a:tab pos="4685030" algn="l"/>
              </a:tabLst>
            </a:pPr>
            <a:r>
              <a:rPr sz="3200" dirty="0"/>
              <a:t>References</a:t>
            </a:r>
            <a:r>
              <a:rPr sz="3200" spc="-20" dirty="0"/>
              <a:t> </a:t>
            </a:r>
            <a:r>
              <a:rPr lang="en-US" sz="3200" spc="-20" dirty="0"/>
              <a:t>for reading purposes</a:t>
            </a:r>
            <a:endParaRPr sz="3200" dirty="0"/>
          </a:p>
        </p:txBody>
      </p:sp>
      <p:sp>
        <p:nvSpPr>
          <p:cNvPr id="9" name="TextBox 8">
            <a:extLst>
              <a:ext uri="{FF2B5EF4-FFF2-40B4-BE49-F238E27FC236}">
                <a16:creationId xmlns:a16="http://schemas.microsoft.com/office/drawing/2014/main" id="{7BE0575D-89CE-C5BC-E754-FC0F668D3CCD}"/>
              </a:ext>
            </a:extLst>
          </p:cNvPr>
          <p:cNvSpPr txBox="1"/>
          <p:nvPr/>
        </p:nvSpPr>
        <p:spPr>
          <a:xfrm>
            <a:off x="107795" y="1090927"/>
            <a:ext cx="7614424" cy="461665"/>
          </a:xfrm>
          <a:prstGeom prst="rect">
            <a:avLst/>
          </a:prstGeom>
          <a:noFill/>
        </p:spPr>
        <p:txBody>
          <a:bodyPr wrap="square">
            <a:spAutoFit/>
          </a:bodyPr>
          <a:lstStyle/>
          <a:p>
            <a:r>
              <a:rPr lang="en-US" sz="2400" dirty="0">
                <a:hlinkClick r:id="rId2"/>
              </a:rPr>
              <a:t>https://www.w3schools.com/js/</a:t>
            </a:r>
            <a:endParaRPr lang="en-US" sz="2400" dirty="0"/>
          </a:p>
        </p:txBody>
      </p:sp>
      <p:sp>
        <p:nvSpPr>
          <p:cNvPr id="11" name="TextBox 10">
            <a:extLst>
              <a:ext uri="{FF2B5EF4-FFF2-40B4-BE49-F238E27FC236}">
                <a16:creationId xmlns:a16="http://schemas.microsoft.com/office/drawing/2014/main" id="{71943C8D-F255-CFAF-6311-20536771BB22}"/>
              </a:ext>
            </a:extLst>
          </p:cNvPr>
          <p:cNvSpPr txBox="1"/>
          <p:nvPr/>
        </p:nvSpPr>
        <p:spPr>
          <a:xfrm>
            <a:off x="113370" y="2632496"/>
            <a:ext cx="8917259" cy="707886"/>
          </a:xfrm>
          <a:prstGeom prst="rect">
            <a:avLst/>
          </a:prstGeom>
          <a:noFill/>
        </p:spPr>
        <p:txBody>
          <a:bodyPr wrap="square">
            <a:spAutoFit/>
          </a:bodyPr>
          <a:lstStyle/>
          <a:p>
            <a:r>
              <a:rPr lang="en-US" sz="2000" dirty="0">
                <a:hlinkClick r:id="rId3"/>
              </a:rPr>
              <a:t>https://www.microverse.org/blog/how-to-work-with-json-in-javascript#toc-what-is-json-</a:t>
            </a:r>
            <a:endParaRPr lang="en-US" sz="2000" dirty="0"/>
          </a:p>
        </p:txBody>
      </p:sp>
      <p:sp>
        <p:nvSpPr>
          <p:cNvPr id="15" name="TextBox 14">
            <a:extLst>
              <a:ext uri="{FF2B5EF4-FFF2-40B4-BE49-F238E27FC236}">
                <a16:creationId xmlns:a16="http://schemas.microsoft.com/office/drawing/2014/main" id="{22B0580D-8805-C130-210D-8E5FFC0595E6}"/>
              </a:ext>
            </a:extLst>
          </p:cNvPr>
          <p:cNvSpPr txBox="1"/>
          <p:nvPr/>
        </p:nvSpPr>
        <p:spPr>
          <a:xfrm>
            <a:off x="107795" y="1925776"/>
            <a:ext cx="8054899" cy="400110"/>
          </a:xfrm>
          <a:prstGeom prst="rect">
            <a:avLst/>
          </a:prstGeom>
          <a:noFill/>
        </p:spPr>
        <p:txBody>
          <a:bodyPr wrap="square">
            <a:spAutoFit/>
          </a:bodyPr>
          <a:lstStyle/>
          <a:p>
            <a:r>
              <a:rPr lang="en-US" sz="2000" dirty="0">
                <a:hlinkClick r:id="rId4"/>
              </a:rPr>
              <a:t>https://www.geeksforgeeks.org/functions-in-javascript/?ref=lbp</a:t>
            </a:r>
            <a:endParaRPr lang="en-US" sz="2000" dirty="0"/>
          </a:p>
        </p:txBody>
      </p:sp>
      <p:sp>
        <p:nvSpPr>
          <p:cNvPr id="17" name="TextBox 16">
            <a:extLst>
              <a:ext uri="{FF2B5EF4-FFF2-40B4-BE49-F238E27FC236}">
                <a16:creationId xmlns:a16="http://schemas.microsoft.com/office/drawing/2014/main" id="{919D38A9-57DC-B657-09C6-6903CCB70036}"/>
              </a:ext>
            </a:extLst>
          </p:cNvPr>
          <p:cNvSpPr txBox="1"/>
          <p:nvPr/>
        </p:nvSpPr>
        <p:spPr>
          <a:xfrm>
            <a:off x="73194" y="3500789"/>
            <a:ext cx="8261195" cy="400110"/>
          </a:xfrm>
          <a:prstGeom prst="rect">
            <a:avLst/>
          </a:prstGeom>
          <a:noFill/>
        </p:spPr>
        <p:txBody>
          <a:bodyPr wrap="square">
            <a:spAutoFit/>
          </a:bodyPr>
          <a:lstStyle/>
          <a:p>
            <a:r>
              <a:rPr lang="en-US" sz="2000" dirty="0">
                <a:hlinkClick r:id="rId5"/>
              </a:rPr>
              <a:t>https://www.cuelogic.com/blog/advantages-of-javascript-es6-over-es5</a:t>
            </a:r>
            <a:endParaRPr lang="en-US" sz="2000" dirty="0"/>
          </a:p>
        </p:txBody>
      </p:sp>
      <p:sp>
        <p:nvSpPr>
          <p:cNvPr id="19" name="TextBox 18">
            <a:extLst>
              <a:ext uri="{FF2B5EF4-FFF2-40B4-BE49-F238E27FC236}">
                <a16:creationId xmlns:a16="http://schemas.microsoft.com/office/drawing/2014/main" id="{9260D0AD-5F10-FC54-E85D-9D681CAC6476}"/>
              </a:ext>
            </a:extLst>
          </p:cNvPr>
          <p:cNvSpPr txBox="1"/>
          <p:nvPr/>
        </p:nvSpPr>
        <p:spPr>
          <a:xfrm>
            <a:off x="107794" y="4110920"/>
            <a:ext cx="9036205" cy="707886"/>
          </a:xfrm>
          <a:prstGeom prst="rect">
            <a:avLst/>
          </a:prstGeom>
          <a:noFill/>
        </p:spPr>
        <p:txBody>
          <a:bodyPr wrap="square">
            <a:spAutoFit/>
          </a:bodyPr>
          <a:lstStyle/>
          <a:p>
            <a:r>
              <a:rPr lang="en-US" sz="2000" dirty="0">
                <a:hlinkClick r:id="rId6"/>
              </a:rPr>
              <a:t>https://www.digitalocean.com/community/tutorials/understanding-arrow-functions-in-javascript</a:t>
            </a:r>
            <a:endParaRPr lang="en-US" sz="2000" dirty="0"/>
          </a:p>
        </p:txBody>
      </p:sp>
    </p:spTree>
    <p:extLst>
      <p:ext uri="{BB962C8B-B14F-4D97-AF65-F5344CB8AC3E}">
        <p14:creationId xmlns:p14="http://schemas.microsoft.com/office/powerpoint/2010/main" val="271061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6" name="Google Shape;86;p13"/>
          <p:cNvSpPr txBox="1">
            <a:spLocks noGrp="1"/>
          </p:cNvSpPr>
          <p:nvPr>
            <p:ph type="subTitle" idx="1"/>
          </p:nvPr>
        </p:nvSpPr>
        <p:spPr>
          <a:xfrm>
            <a:off x="1935363" y="1607420"/>
            <a:ext cx="5353978" cy="108765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		</a:t>
            </a:r>
            <a:r>
              <a:rPr lang="en-US" sz="2800" b="1" dirty="0"/>
              <a:t>END.</a:t>
            </a:r>
            <a:endParaRPr sz="2800" b="1" dirty="0"/>
          </a:p>
        </p:txBody>
      </p:sp>
    </p:spTree>
    <p:extLst>
      <p:ext uri="{BB962C8B-B14F-4D97-AF65-F5344CB8AC3E}">
        <p14:creationId xmlns:p14="http://schemas.microsoft.com/office/powerpoint/2010/main" val="2639392430"/>
      </p:ext>
    </p:extLst>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13762</TotalTime>
  <Words>2502</Words>
  <Application>Microsoft Office PowerPoint</Application>
  <PresentationFormat>On-screen Show (16:9)</PresentationFormat>
  <Paragraphs>259</Paragraphs>
  <Slides>34</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34</vt:i4>
      </vt:variant>
    </vt:vector>
  </HeadingPairs>
  <TitlesOfParts>
    <vt:vector size="46" baseType="lpstr">
      <vt:lpstr>Arial (Body)</vt:lpstr>
      <vt:lpstr>arial</vt:lpstr>
      <vt:lpstr>urw-din</vt:lpstr>
      <vt:lpstr>arial</vt:lpstr>
      <vt:lpstr>Roboto</vt:lpstr>
      <vt:lpstr>proxima-nova</vt:lpstr>
      <vt:lpstr>TypoPRO Open Sans</vt:lpstr>
      <vt:lpstr>Consolas</vt:lpstr>
      <vt:lpstr>Wingdings</vt:lpstr>
      <vt:lpstr>Times New Roman</vt:lpstr>
      <vt:lpstr>Verdana</vt:lpstr>
      <vt:lpstr>Geometric</vt:lpstr>
      <vt:lpstr>Web Development using ReactJS</vt:lpstr>
      <vt:lpstr>Advanced</vt:lpstr>
      <vt:lpstr>ES6</vt:lpstr>
      <vt:lpstr>Cont.…</vt:lpstr>
      <vt:lpstr>Cont.…</vt:lpstr>
      <vt:lpstr>Regular Functions</vt:lpstr>
      <vt:lpstr>Practice 1.1</vt:lpstr>
      <vt:lpstr>Practice 1.2</vt:lpstr>
      <vt:lpstr>Arrow Functions</vt:lpstr>
      <vt:lpstr>Practice 1.3</vt:lpstr>
      <vt:lpstr>Core Advantages of Arrow Functions</vt:lpstr>
      <vt:lpstr>Default Parameter Values</vt:lpstr>
      <vt:lpstr>Practice 1.4</vt:lpstr>
      <vt:lpstr>Callback Function </vt:lpstr>
      <vt:lpstr>Practice 1.5</vt:lpstr>
      <vt:lpstr>Function Rest Parameter</vt:lpstr>
      <vt:lpstr>Practice 1.6</vt:lpstr>
      <vt:lpstr>Classes</vt:lpstr>
      <vt:lpstr>Cont…..</vt:lpstr>
      <vt:lpstr>Contu……..</vt:lpstr>
      <vt:lpstr>Practice 1.7</vt:lpstr>
      <vt:lpstr>Objects</vt:lpstr>
      <vt:lpstr>Practice 1.8</vt:lpstr>
      <vt:lpstr>Destructuring assignment</vt:lpstr>
      <vt:lpstr>Practice 1.9</vt:lpstr>
      <vt:lpstr>Template Literals</vt:lpstr>
      <vt:lpstr>Practice 1.10</vt:lpstr>
      <vt:lpstr>JSON</vt:lpstr>
      <vt:lpstr>Contu….</vt:lpstr>
      <vt:lpstr>Contu….</vt:lpstr>
      <vt:lpstr>Contu….</vt:lpstr>
      <vt:lpstr>Practice 1.11</vt:lpstr>
      <vt:lpstr>References for reading purposes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Development using React js</dc:title>
  <dc:creator>Abdirahman Baabale</dc:creator>
  <cp:lastModifiedBy>Abdirahman Baabale</cp:lastModifiedBy>
  <cp:revision>114</cp:revision>
  <dcterms:modified xsi:type="dcterms:W3CDTF">2024-02-21T06:55:27Z</dcterms:modified>
</cp:coreProperties>
</file>